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5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78130" y="128270"/>
            <a:ext cx="8326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VUE-SSR lesson4</a:t>
            </a:r>
            <a:r>
              <a:rPr lang="zh-CN" altLang="en-US"/>
              <a:t>项目启动流程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37795" y="2124710"/>
            <a:ext cx="2016125" cy="16764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000"/>
              <a:t>1. </a:t>
            </a:r>
            <a:r>
              <a:rPr lang="zh-CN" altLang="en-US" sz="1000"/>
              <a:t>通过</a:t>
            </a:r>
            <a:r>
              <a:rPr lang="en-US" altLang="zh-CN" sz="1000"/>
              <a:t>node server.js</a:t>
            </a:r>
            <a:r>
              <a:rPr lang="zh-CN" altLang="en-US" sz="1000"/>
              <a:t>命令启动项目；</a:t>
            </a:r>
            <a:endParaRPr lang="zh-CN" altLang="en-US" sz="1000"/>
          </a:p>
          <a:p>
            <a:pPr algn="l"/>
            <a:r>
              <a:rPr lang="en-US" altLang="zh-CN" sz="1000"/>
              <a:t>2. </a:t>
            </a:r>
            <a:r>
              <a:rPr lang="zh-CN" altLang="en-US" sz="1000"/>
              <a:t>创建</a:t>
            </a:r>
            <a:r>
              <a:rPr lang="en-US" altLang="zh-CN" sz="1000"/>
              <a:t>express</a:t>
            </a:r>
            <a:r>
              <a:rPr lang="zh-CN" altLang="en-US" sz="1000"/>
              <a:t>实例</a:t>
            </a:r>
            <a:endParaRPr lang="zh-CN" altLang="en-US" sz="1000"/>
          </a:p>
          <a:p>
            <a:pPr algn="l"/>
            <a:r>
              <a:rPr lang="en-US" altLang="zh-CN" sz="1000"/>
              <a:t>3. </a:t>
            </a:r>
            <a:r>
              <a:rPr lang="zh-CN" altLang="en-US" sz="1000"/>
              <a:t>依赖引入setup-dev-server</a:t>
            </a:r>
            <a:r>
              <a:rPr lang="en-US" altLang="zh-CN" sz="1000"/>
              <a:t>,</a:t>
            </a:r>
            <a:r>
              <a:rPr lang="zh-CN" altLang="en-US" sz="1000"/>
              <a:t>并执行引入的函数</a:t>
            </a:r>
            <a:endParaRPr lang="zh-CN" altLang="en-US" sz="1000"/>
          </a:p>
        </p:txBody>
      </p:sp>
      <p:sp>
        <p:nvSpPr>
          <p:cNvPr id="10" name="圆角矩形 9"/>
          <p:cNvSpPr/>
          <p:nvPr/>
        </p:nvSpPr>
        <p:spPr>
          <a:xfrm>
            <a:off x="3355975" y="836930"/>
            <a:ext cx="2016125" cy="425259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000"/>
              <a:t>4. </a:t>
            </a:r>
            <a:r>
              <a:rPr lang="zh-CN" altLang="en-US" sz="1000"/>
              <a:t>执行</a:t>
            </a:r>
            <a:r>
              <a:rPr lang="zh-CN" altLang="en-US" sz="1000">
                <a:sym typeface="+mn-ea"/>
              </a:rPr>
              <a:t>setup-dev-server暴露的函数，函数会返回一个</a:t>
            </a:r>
            <a:r>
              <a:rPr lang="en-US" altLang="zh-CN" sz="1000">
                <a:sym typeface="+mn-ea"/>
              </a:rPr>
              <a:t>promise</a:t>
            </a:r>
            <a:r>
              <a:rPr lang="zh-CN" altLang="en-US" sz="1000">
                <a:sym typeface="+mn-ea"/>
              </a:rPr>
              <a:t>；</a:t>
            </a:r>
            <a:endParaRPr lang="zh-CN" altLang="en-US" sz="1000">
              <a:sym typeface="+mn-ea"/>
            </a:endParaRPr>
          </a:p>
          <a:p>
            <a:pPr algn="l"/>
            <a:r>
              <a:rPr lang="en-US" altLang="zh-CN" sz="1000">
                <a:sym typeface="+mn-ea"/>
              </a:rPr>
              <a:t>5. </a:t>
            </a:r>
            <a:r>
              <a:rPr lang="zh-CN" altLang="en-US" sz="1000">
                <a:sym typeface="+mn-ea"/>
              </a:rPr>
              <a:t>函数执行中，在客户端的</a:t>
            </a:r>
            <a:r>
              <a:rPr lang="en-US" altLang="zh-CN" sz="1000">
                <a:sym typeface="+mn-ea"/>
              </a:rPr>
              <a:t>webpack</a:t>
            </a:r>
            <a:r>
              <a:rPr lang="zh-CN" altLang="en-US" sz="1000">
                <a:sym typeface="+mn-ea"/>
              </a:rPr>
              <a:t>配置中，增加</a:t>
            </a:r>
            <a:r>
              <a:rPr lang="en-US" altLang="zh-CN" sz="1000">
                <a:sym typeface="+mn-ea"/>
              </a:rPr>
              <a:t>webpack-dev-middleware</a:t>
            </a:r>
            <a:r>
              <a:rPr lang="zh-CN" altLang="en-US" sz="1000">
                <a:sym typeface="+mn-ea"/>
              </a:rPr>
              <a:t>及一些插件；</a:t>
            </a:r>
            <a:endParaRPr lang="zh-CN" altLang="en-US" sz="1000">
              <a:sym typeface="+mn-ea"/>
            </a:endParaRPr>
          </a:p>
          <a:p>
            <a:pPr algn="l"/>
            <a:r>
              <a:rPr lang="en-US" altLang="zh-CN" sz="1000">
                <a:sym typeface="+mn-ea"/>
              </a:rPr>
              <a:t>6. webpack</a:t>
            </a:r>
            <a:r>
              <a:rPr lang="zh-CN" altLang="en-US" sz="1000">
                <a:sym typeface="+mn-ea"/>
              </a:rPr>
              <a:t>开始编译客户端，编译完成后，将编译过程中生成的vue-ssr-client-manifest.json读取出来，赋值给变量clientManifest；</a:t>
            </a:r>
            <a:endParaRPr lang="zh-CN" altLang="en-US" sz="1000">
              <a:sym typeface="+mn-ea"/>
            </a:endParaRPr>
          </a:p>
          <a:p>
            <a:pPr algn="l"/>
            <a:r>
              <a:rPr lang="en-US" altLang="zh-CN" sz="1000">
                <a:sym typeface="+mn-ea"/>
              </a:rPr>
              <a:t>7. webpack</a:t>
            </a:r>
            <a:r>
              <a:rPr lang="zh-CN" altLang="en-US" sz="1000">
                <a:sym typeface="+mn-ea"/>
              </a:rPr>
              <a:t>根据服务端的配置</a:t>
            </a:r>
            <a:r>
              <a:rPr lang="zh-CN" altLang="en-US" sz="1000">
                <a:sym typeface="+mn-ea"/>
              </a:rPr>
              <a:t>开始编译服务端；</a:t>
            </a:r>
            <a:endParaRPr lang="zh-CN" altLang="en-US" sz="1000">
              <a:sym typeface="+mn-ea"/>
            </a:endParaRPr>
          </a:p>
          <a:p>
            <a:pPr algn="l"/>
            <a:r>
              <a:rPr lang="en-US" altLang="zh-CN" sz="1000">
                <a:sym typeface="+mn-ea"/>
              </a:rPr>
              <a:t>8. </a:t>
            </a:r>
            <a:r>
              <a:rPr lang="zh-CN" altLang="en-US" sz="1000">
                <a:sym typeface="+mn-ea"/>
              </a:rPr>
              <a:t>将服务的编译后的</a:t>
            </a:r>
            <a:r>
              <a:rPr lang="en-US" altLang="zh-CN" sz="1000">
                <a:sym typeface="+mn-ea"/>
              </a:rPr>
              <a:t>compiler</a:t>
            </a:r>
            <a:r>
              <a:rPr lang="zh-CN" altLang="en-US" sz="1000">
                <a:sym typeface="+mn-ea"/>
              </a:rPr>
              <a:t>的outputFileSystem属性更改为</a:t>
            </a:r>
            <a:r>
              <a:rPr lang="en-US" altLang="zh-CN" sz="1000">
                <a:sym typeface="+mn-ea"/>
              </a:rPr>
              <a:t>MFS</a:t>
            </a:r>
            <a:r>
              <a:rPr lang="zh-CN" altLang="en-US" sz="1000">
                <a:sym typeface="+mn-ea"/>
              </a:rPr>
              <a:t>实例，也就是内存文件系统；</a:t>
            </a:r>
            <a:endParaRPr lang="zh-CN" altLang="en-US" sz="1000">
              <a:sym typeface="+mn-ea"/>
            </a:endParaRPr>
          </a:p>
          <a:p>
            <a:pPr algn="l"/>
            <a:r>
              <a:rPr lang="en-US" altLang="zh-CN" sz="1000">
                <a:sym typeface="+mn-ea"/>
              </a:rPr>
              <a:t>9. </a:t>
            </a:r>
            <a:r>
              <a:rPr lang="zh-CN" altLang="en-US" sz="1000">
                <a:sym typeface="+mn-ea"/>
              </a:rPr>
              <a:t>服务端编译后，读取vue-ssr-server-bundle.json，将其赋值给bundle；</a:t>
            </a:r>
            <a:endParaRPr lang="zh-CN" altLang="en-US" sz="1000">
              <a:sym typeface="+mn-ea"/>
            </a:endParaRPr>
          </a:p>
          <a:p>
            <a:pPr algn="l"/>
            <a:r>
              <a:rPr lang="en-US" altLang="zh-CN" sz="1000">
                <a:sym typeface="+mn-ea"/>
              </a:rPr>
              <a:t>10. </a:t>
            </a:r>
            <a:r>
              <a:rPr lang="zh-CN" altLang="en-US" sz="1000">
                <a:sym typeface="+mn-ea"/>
              </a:rPr>
              <a:t>执行</a:t>
            </a:r>
            <a:r>
              <a:rPr lang="en-US" altLang="zh-CN" sz="1000">
                <a:sym typeface="+mn-ea"/>
              </a:rPr>
              <a:t>update</a:t>
            </a:r>
            <a:r>
              <a:rPr lang="zh-CN" altLang="en-US" sz="1000">
                <a:sym typeface="+mn-ea"/>
              </a:rPr>
              <a:t>函数，将返回的</a:t>
            </a:r>
            <a:r>
              <a:rPr lang="en-US" altLang="zh-CN" sz="1000">
                <a:sym typeface="+mn-ea"/>
              </a:rPr>
              <a:t>promise</a:t>
            </a:r>
            <a:r>
              <a:rPr lang="zh-CN" altLang="en-US" sz="1000">
                <a:sym typeface="+mn-ea"/>
              </a:rPr>
              <a:t>状态更改为</a:t>
            </a:r>
            <a:r>
              <a:rPr lang="en-US" altLang="zh-CN" sz="1000">
                <a:sym typeface="+mn-ea"/>
              </a:rPr>
              <a:t>resolved</a:t>
            </a:r>
            <a:r>
              <a:rPr lang="zh-CN" altLang="en-US" sz="1000">
                <a:sym typeface="+mn-ea"/>
              </a:rPr>
              <a:t>；</a:t>
            </a:r>
            <a:endParaRPr lang="zh-CN" altLang="en-US" sz="1000">
              <a:sym typeface="+mn-ea"/>
            </a:endParaRPr>
          </a:p>
          <a:p>
            <a:pPr algn="l"/>
            <a:r>
              <a:rPr lang="en-US" altLang="zh-CN" sz="1000">
                <a:sym typeface="+mn-ea"/>
              </a:rPr>
              <a:t>11. </a:t>
            </a:r>
            <a:r>
              <a:rPr lang="zh-CN" altLang="en-US" sz="1000">
                <a:sym typeface="+mn-ea"/>
              </a:rPr>
              <a:t>并执行传入的回调函数【回调函数为创建renderer的函数</a:t>
            </a:r>
            <a:r>
              <a:rPr lang="zh-CN" altLang="en-US" sz="1000">
                <a:sym typeface="+mn-ea"/>
              </a:rPr>
              <a:t>】</a:t>
            </a:r>
            <a:endParaRPr lang="zh-CN" altLang="en-US" sz="1000">
              <a:sym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743065" y="1953260"/>
            <a:ext cx="2016125" cy="20193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000">
                <a:sym typeface="+mn-ea"/>
              </a:rPr>
              <a:t>12. </a:t>
            </a:r>
            <a:r>
              <a:rPr lang="zh-CN" altLang="en-US" sz="1000">
                <a:sym typeface="+mn-ea"/>
              </a:rPr>
              <a:t>服务端或者客户端的异步编译过程中，</a:t>
            </a:r>
            <a:r>
              <a:rPr lang="en-US" altLang="zh-CN" sz="1000">
                <a:sym typeface="+mn-ea"/>
              </a:rPr>
              <a:t>server.js</a:t>
            </a:r>
            <a:r>
              <a:rPr lang="zh-CN" altLang="en-US" sz="1000">
                <a:sym typeface="+mn-ea"/>
              </a:rPr>
              <a:t>中，将</a:t>
            </a:r>
            <a:r>
              <a:rPr lang="en-US" altLang="zh-CN" sz="1000">
                <a:sym typeface="+mn-ea"/>
              </a:rPr>
              <a:t>express</a:t>
            </a:r>
            <a:r>
              <a:rPr lang="zh-CN" altLang="en-US" sz="1000">
                <a:sym typeface="+mn-ea"/>
              </a:rPr>
              <a:t>实例的一些路由配置好，并启动</a:t>
            </a:r>
            <a:r>
              <a:rPr lang="en-US" altLang="zh-CN" sz="1000">
                <a:sym typeface="+mn-ea"/>
              </a:rPr>
              <a:t>express</a:t>
            </a:r>
            <a:endParaRPr lang="en-US" altLang="zh-CN" sz="1000">
              <a:sym typeface="+mn-ea"/>
            </a:endParaRPr>
          </a:p>
          <a:p>
            <a:pPr algn="l"/>
            <a:r>
              <a:rPr lang="en-US" altLang="zh-CN" sz="1000">
                <a:sym typeface="+mn-ea"/>
              </a:rPr>
              <a:t>13. </a:t>
            </a:r>
            <a:r>
              <a:rPr lang="zh-CN" altLang="en-US" sz="1000">
                <a:sym typeface="+mn-ea"/>
              </a:rPr>
              <a:t>启动后，页面访问；</a:t>
            </a:r>
            <a:endParaRPr lang="zh-CN" altLang="en-US" sz="1000">
              <a:sym typeface="+mn-ea"/>
            </a:endParaRPr>
          </a:p>
          <a:p>
            <a:pPr algn="l"/>
            <a:r>
              <a:rPr lang="en-US" altLang="zh-CN" sz="1000">
                <a:sym typeface="+mn-ea"/>
              </a:rPr>
              <a:t>14. </a:t>
            </a:r>
            <a:r>
              <a:rPr lang="zh-CN" altLang="en-US" sz="1000">
                <a:sym typeface="+mn-ea"/>
              </a:rPr>
              <a:t>访问时，执行</a:t>
            </a:r>
            <a:r>
              <a:rPr lang="en-US" altLang="zh-CN" sz="1000">
                <a:sym typeface="+mn-ea"/>
              </a:rPr>
              <a:t>render</a:t>
            </a:r>
            <a:r>
              <a:rPr lang="zh-CN" altLang="en-US" sz="1000">
                <a:sym typeface="+mn-ea"/>
              </a:rPr>
              <a:t>函数，</a:t>
            </a:r>
            <a:r>
              <a:rPr lang="en-US" altLang="zh-CN" sz="1000">
                <a:sym typeface="+mn-ea"/>
              </a:rPr>
              <a:t>render</a:t>
            </a:r>
            <a:r>
              <a:rPr lang="zh-CN" altLang="en-US" sz="1000">
                <a:sym typeface="+mn-ea"/>
              </a:rPr>
              <a:t>函数中，执行renderer.renderToString生成</a:t>
            </a:r>
            <a:r>
              <a:rPr lang="en-US" altLang="zh-CN" sz="1000">
                <a:sym typeface="+mn-ea"/>
              </a:rPr>
              <a:t>html</a:t>
            </a:r>
            <a:r>
              <a:rPr lang="zh-CN" altLang="en-US" sz="1000">
                <a:sym typeface="+mn-ea"/>
              </a:rPr>
              <a:t>模板，并向客户端返回该模板；</a:t>
            </a:r>
            <a:endParaRPr lang="zh-CN" altLang="en-US" sz="1000">
              <a:sym typeface="+mn-ea"/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2339340" y="2853055"/>
            <a:ext cx="792480" cy="2876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5699760" y="2853055"/>
            <a:ext cx="792480" cy="2876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52730" y="222885"/>
            <a:ext cx="8144510" cy="47694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const { </a:t>
            </a:r>
            <a:r>
              <a:rPr lang="zh-CN" altLang="en-US" sz="1600"/>
              <a:t>createRenderer</a:t>
            </a:r>
            <a:r>
              <a:rPr lang="en-US" altLang="zh-CN" sz="1600"/>
              <a:t>, createBundleRenderer</a:t>
            </a:r>
            <a:r>
              <a:rPr lang="zh-CN" altLang="en-US" sz="1600"/>
              <a:t> </a:t>
            </a:r>
            <a:r>
              <a:rPr lang="en-US" altLang="zh-CN" sz="1600"/>
              <a:t>} = require('vue-server-renderer');</a:t>
            </a:r>
            <a:endParaRPr lang="en-US" altLang="zh-CN" sz="1600"/>
          </a:p>
          <a:p>
            <a:r>
              <a:rPr lang="zh-CN" altLang="en-US" sz="1600">
                <a:sym typeface="+mn-ea"/>
              </a:rPr>
              <a:t>createRenderer和</a:t>
            </a:r>
            <a:r>
              <a:rPr lang="en-US" altLang="zh-CN" sz="1600">
                <a:sym typeface="+mn-ea"/>
              </a:rPr>
              <a:t>createBundleRenderer</a:t>
            </a:r>
            <a:r>
              <a:rPr lang="zh-CN" altLang="en-US" sz="1600">
                <a:sym typeface="+mn-ea"/>
              </a:rPr>
              <a:t> 的比较：</a:t>
            </a:r>
            <a:endParaRPr lang="zh-CN" altLang="en-US" sz="1600">
              <a:sym typeface="+mn-ea"/>
            </a:endParaRPr>
          </a:p>
          <a:p>
            <a:endParaRPr lang="zh-CN" altLang="en-US" sz="1600">
              <a:sym typeface="+mn-ea"/>
            </a:endParaRPr>
          </a:p>
          <a:p>
            <a:r>
              <a:rPr lang="en-US" altLang="zh-CN" sz="1600">
                <a:sym typeface="+mn-ea"/>
              </a:rPr>
              <a:t>1. </a:t>
            </a:r>
            <a:r>
              <a:rPr lang="zh-CN" altLang="en-US" sz="1600">
                <a:sym typeface="+mn-ea"/>
              </a:rPr>
              <a:t>createRenderer</a:t>
            </a:r>
            <a:r>
              <a:rPr lang="en-US" altLang="zh-CN" sz="1600">
                <a:sym typeface="+mn-ea"/>
              </a:rPr>
              <a:t>()</a:t>
            </a:r>
            <a:endParaRPr lang="en-US" altLang="zh-CN" sz="1600">
              <a:sym typeface="+mn-ea"/>
            </a:endParaRPr>
          </a:p>
          <a:p>
            <a:r>
              <a:rPr lang="zh-CN" altLang="en-US" sz="1600">
                <a:sym typeface="+mn-ea"/>
              </a:rPr>
              <a:t>返回值：</a:t>
            </a:r>
            <a:r>
              <a:rPr lang="en-US" altLang="zh-CN" sz="1600">
                <a:sym typeface="+mn-ea"/>
              </a:rPr>
              <a:t>{ renderToString</a:t>
            </a:r>
            <a:r>
              <a:rPr lang="zh-CN" altLang="en-US" sz="1600">
                <a:sym typeface="+mn-ea"/>
              </a:rPr>
              <a:t>：</a:t>
            </a:r>
            <a:r>
              <a:rPr lang="en-US" altLang="zh-CN" sz="1600">
                <a:sym typeface="+mn-ea"/>
              </a:rPr>
              <a:t>function</a:t>
            </a:r>
            <a:r>
              <a:rPr lang="zh-CN" altLang="en-US" sz="1600">
                <a:sym typeface="+mn-ea"/>
              </a:rPr>
              <a:t>，renderToStream</a:t>
            </a:r>
            <a:r>
              <a:rPr lang="en-US" altLang="zh-CN" sz="1600">
                <a:sym typeface="+mn-ea"/>
              </a:rPr>
              <a:t>:function</a:t>
            </a:r>
            <a:r>
              <a:rPr lang="en-US" altLang="zh-CN" sz="1600">
                <a:sym typeface="+mn-ea"/>
              </a:rPr>
              <a:t> }</a:t>
            </a:r>
            <a:endParaRPr lang="en-US" altLang="zh-CN" sz="1600">
              <a:sym typeface="+mn-ea"/>
            </a:endParaRPr>
          </a:p>
          <a:p>
            <a:r>
              <a:rPr lang="zh-CN" altLang="en-US" sz="1600">
                <a:sym typeface="+mn-ea"/>
              </a:rPr>
              <a:t>函数</a:t>
            </a:r>
            <a:r>
              <a:rPr lang="en-US" altLang="zh-CN" sz="1600">
                <a:sym typeface="+mn-ea"/>
              </a:rPr>
              <a:t>renderToString(component, context, cb): </a:t>
            </a:r>
            <a:endParaRPr lang="en-US" altLang="zh-CN" sz="1600">
              <a:sym typeface="+mn-ea"/>
            </a:endParaRPr>
          </a:p>
          <a:p>
            <a:r>
              <a:rPr lang="zh-CN" altLang="en-US" sz="1600">
                <a:sym typeface="+mn-ea"/>
              </a:rPr>
              <a:t>入参</a:t>
            </a:r>
            <a:r>
              <a:rPr lang="en-US" altLang="zh-CN" sz="1600">
                <a:sym typeface="+mn-ea"/>
              </a:rPr>
              <a:t>component</a:t>
            </a:r>
            <a:r>
              <a:rPr lang="zh-CN" altLang="en-US" sz="1600">
                <a:sym typeface="+mn-ea"/>
              </a:rPr>
              <a:t>为</a:t>
            </a:r>
            <a:r>
              <a:rPr lang="en-US" altLang="zh-CN" sz="1600">
                <a:sym typeface="+mn-ea"/>
              </a:rPr>
              <a:t>vue</a:t>
            </a:r>
            <a:r>
              <a:rPr lang="zh-CN" altLang="en-US" sz="1600">
                <a:sym typeface="+mn-ea"/>
              </a:rPr>
              <a:t>实例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入参</a:t>
            </a:r>
            <a:r>
              <a:rPr lang="en-US" altLang="zh-CN" sz="1600">
                <a:sym typeface="+mn-ea"/>
              </a:rPr>
              <a:t>context</a:t>
            </a:r>
            <a:r>
              <a:rPr lang="zh-CN" altLang="en-US" sz="1600">
                <a:sym typeface="+mn-ea"/>
              </a:rPr>
              <a:t>相当于为</a:t>
            </a:r>
            <a:r>
              <a:rPr lang="en-US" altLang="zh-CN" sz="1600">
                <a:sym typeface="+mn-ea"/>
              </a:rPr>
              <a:t>vue</a:t>
            </a:r>
            <a:r>
              <a:rPr lang="zh-CN" altLang="en-US" sz="1600">
                <a:sym typeface="+mn-ea"/>
              </a:rPr>
              <a:t>实例的</a:t>
            </a:r>
            <a:r>
              <a:rPr lang="en-US" altLang="zh-CN" sz="1600">
                <a:sym typeface="+mn-ea"/>
              </a:rPr>
              <a:t>data</a:t>
            </a:r>
            <a:r>
              <a:rPr lang="zh-CN" altLang="en-US" sz="1600">
                <a:sym typeface="+mn-ea"/>
              </a:rPr>
              <a:t>里面的属性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入参</a:t>
            </a:r>
            <a:r>
              <a:rPr lang="en-US" altLang="zh-CN" sz="1600">
                <a:sym typeface="+mn-ea"/>
              </a:rPr>
              <a:t>cb</a:t>
            </a:r>
            <a:r>
              <a:rPr lang="zh-CN" altLang="en-US" sz="1600">
                <a:sym typeface="+mn-ea"/>
              </a:rPr>
              <a:t>为回调函数</a:t>
            </a:r>
            <a:endParaRPr lang="zh-CN" altLang="en-US" sz="1600">
              <a:sym typeface="+mn-ea"/>
            </a:endParaRPr>
          </a:p>
          <a:p>
            <a:r>
              <a:rPr lang="en-US" altLang="zh-CN" sz="1600">
                <a:sym typeface="+mn-ea"/>
              </a:rPr>
              <a:t>renderToString</a:t>
            </a:r>
            <a:r>
              <a:rPr lang="zh-CN" altLang="en-US" sz="1600">
                <a:sym typeface="+mn-ea"/>
              </a:rPr>
              <a:t>函数执行后，会根据</a:t>
            </a:r>
            <a:r>
              <a:rPr lang="en-US" altLang="zh-CN" sz="1600">
                <a:sym typeface="+mn-ea"/>
              </a:rPr>
              <a:t>context</a:t>
            </a:r>
            <a:r>
              <a:rPr lang="zh-CN" altLang="en-US" sz="1600">
                <a:sym typeface="+mn-ea"/>
              </a:rPr>
              <a:t>里面的属性，生成新的</a:t>
            </a:r>
            <a:r>
              <a:rPr lang="en-US" altLang="zh-CN" sz="1600">
                <a:sym typeface="+mn-ea"/>
              </a:rPr>
              <a:t>dom</a:t>
            </a:r>
            <a:r>
              <a:rPr lang="zh-CN" altLang="en-US" sz="1600">
                <a:sym typeface="+mn-ea"/>
              </a:rPr>
              <a:t>结构，</a:t>
            </a:r>
            <a:r>
              <a:rPr lang="en-US" altLang="zh-CN" sz="1600">
                <a:sym typeface="+mn-ea"/>
              </a:rPr>
              <a:t>dom</a:t>
            </a:r>
            <a:r>
              <a:rPr lang="zh-CN" altLang="en-US" sz="1600">
                <a:sym typeface="+mn-ea"/>
              </a:rPr>
              <a:t>以文本的形式作为入参传递给</a:t>
            </a:r>
            <a:r>
              <a:rPr lang="en-US" altLang="zh-CN" sz="1600">
                <a:sym typeface="+mn-ea"/>
              </a:rPr>
              <a:t>cb</a:t>
            </a:r>
            <a:endParaRPr lang="en-US" altLang="zh-CN" sz="1600">
              <a:sym typeface="+mn-ea"/>
            </a:endParaRPr>
          </a:p>
          <a:p>
            <a:endParaRPr lang="en-US" altLang="zh-CN" sz="1600">
              <a:sym typeface="+mn-ea"/>
            </a:endParaRPr>
          </a:p>
          <a:p>
            <a:r>
              <a:rPr lang="en-US" altLang="zh-CN" sz="1600">
                <a:sym typeface="+mn-ea"/>
              </a:rPr>
              <a:t>2.createBundleRenderer()</a:t>
            </a:r>
            <a:endParaRPr lang="en-US" altLang="zh-CN" sz="1600">
              <a:sym typeface="+mn-ea"/>
            </a:endParaRPr>
          </a:p>
          <a:p>
            <a:r>
              <a:rPr lang="zh-CN" altLang="en-US" sz="1600">
                <a:sym typeface="+mn-ea"/>
              </a:rPr>
              <a:t>返回值：</a:t>
            </a:r>
            <a:r>
              <a:rPr lang="en-US" altLang="zh-CN" sz="1600">
                <a:sym typeface="+mn-ea"/>
              </a:rPr>
              <a:t>{ renderToString</a:t>
            </a:r>
            <a:r>
              <a:rPr lang="zh-CN" altLang="en-US" sz="1600">
                <a:sym typeface="+mn-ea"/>
              </a:rPr>
              <a:t>：</a:t>
            </a:r>
            <a:r>
              <a:rPr lang="en-US" altLang="zh-CN" sz="1600">
                <a:sym typeface="+mn-ea"/>
              </a:rPr>
              <a:t>function</a:t>
            </a:r>
            <a:r>
              <a:rPr lang="zh-CN" altLang="en-US" sz="1600">
                <a:sym typeface="+mn-ea"/>
              </a:rPr>
              <a:t>，renderToStream：</a:t>
            </a:r>
            <a:r>
              <a:rPr lang="en-US" altLang="zh-CN" sz="1600">
                <a:sym typeface="+mn-ea"/>
              </a:rPr>
              <a:t>function</a:t>
            </a:r>
            <a:r>
              <a:rPr lang="en-US" altLang="zh-CN" sz="1600">
                <a:sym typeface="+mn-ea"/>
              </a:rPr>
              <a:t> }</a:t>
            </a:r>
            <a:endParaRPr lang="en-US" altLang="zh-CN" sz="1600">
              <a:sym typeface="+mn-ea"/>
            </a:endParaRPr>
          </a:p>
          <a:p>
            <a:r>
              <a:rPr lang="zh-CN" altLang="en-US" sz="1600">
                <a:sym typeface="+mn-ea"/>
              </a:rPr>
              <a:t>函数</a:t>
            </a:r>
            <a:r>
              <a:rPr lang="en-US" altLang="zh-CN" sz="1600">
                <a:sym typeface="+mn-ea"/>
              </a:rPr>
              <a:t>renderToString(context, cb)</a:t>
            </a:r>
            <a:endParaRPr lang="en-US" altLang="zh-CN" sz="1600">
              <a:sym typeface="+mn-ea"/>
            </a:endParaRPr>
          </a:p>
          <a:p>
            <a:r>
              <a:rPr lang="zh-CN" altLang="en-US" sz="1600">
                <a:sym typeface="+mn-ea"/>
              </a:rPr>
              <a:t>入参</a:t>
            </a:r>
            <a:r>
              <a:rPr lang="en-US" altLang="zh-CN" sz="1600">
                <a:sym typeface="+mn-ea"/>
              </a:rPr>
              <a:t>context</a:t>
            </a:r>
            <a:r>
              <a:rPr lang="zh-CN" altLang="en-US" sz="1600">
                <a:sym typeface="+mn-ea"/>
              </a:rPr>
              <a:t>提供给</a:t>
            </a:r>
            <a:r>
              <a:rPr lang="zh-CN" altLang="en-US" sz="1600">
                <a:sym typeface="+mn-ea"/>
              </a:rPr>
              <a:t>上面那个</a:t>
            </a:r>
            <a:r>
              <a:rPr lang="en-US" altLang="zh-CN" sz="1600">
                <a:sym typeface="+mn-ea"/>
              </a:rPr>
              <a:t>renderToString</a:t>
            </a:r>
            <a:r>
              <a:rPr lang="zh-CN" altLang="en-US" sz="1600">
                <a:sym typeface="+mn-ea"/>
              </a:rPr>
              <a:t>的</a:t>
            </a:r>
            <a:r>
              <a:rPr lang="en-US" altLang="zh-CN" sz="1600">
                <a:sym typeface="+mn-ea"/>
              </a:rPr>
              <a:t>context</a:t>
            </a:r>
            <a:endParaRPr lang="en-US" altLang="zh-CN" sz="1600">
              <a:sym typeface="+mn-ea"/>
            </a:endParaRPr>
          </a:p>
          <a:p>
            <a:r>
              <a:rPr lang="zh-CN" altLang="en-US" sz="1600">
                <a:sym typeface="+mn-ea"/>
              </a:rPr>
              <a:t>入参</a:t>
            </a:r>
            <a:r>
              <a:rPr lang="en-US" altLang="zh-CN" sz="1600">
                <a:sym typeface="+mn-ea"/>
              </a:rPr>
              <a:t>cb</a:t>
            </a:r>
            <a:r>
              <a:rPr lang="zh-CN" altLang="en-US" sz="1600">
                <a:sym typeface="+mn-ea"/>
              </a:rPr>
              <a:t>提供给上面那个</a:t>
            </a:r>
            <a:r>
              <a:rPr lang="en-US" altLang="zh-CN" sz="1600">
                <a:sym typeface="+mn-ea"/>
              </a:rPr>
              <a:t>renderToString</a:t>
            </a:r>
            <a:r>
              <a:rPr lang="zh-CN" altLang="en-US" sz="1600">
                <a:sym typeface="+mn-ea"/>
              </a:rPr>
              <a:t>的</a:t>
            </a:r>
            <a:r>
              <a:rPr lang="en-US" altLang="zh-CN" sz="1600">
                <a:sym typeface="+mn-ea"/>
              </a:rPr>
              <a:t>cb</a:t>
            </a:r>
            <a:endParaRPr lang="en-US" altLang="zh-CN" sz="1600">
              <a:sym typeface="+mn-ea"/>
            </a:endParaRPr>
          </a:p>
          <a:p>
            <a:r>
              <a:rPr lang="en-US" altLang="zh-CN" sz="1600">
                <a:sym typeface="+mn-ea"/>
              </a:rPr>
              <a:t>renderToString</a:t>
            </a:r>
            <a:r>
              <a:rPr lang="zh-CN" altLang="en-US" sz="1600">
                <a:sym typeface="+mn-ea"/>
              </a:rPr>
              <a:t>函数执行中，通过run(context)执行返回</a:t>
            </a:r>
            <a:r>
              <a:rPr lang="en-US" altLang="zh-CN" sz="1600">
                <a:sym typeface="+mn-ea"/>
              </a:rPr>
              <a:t>vue</a:t>
            </a:r>
            <a:r>
              <a:rPr lang="zh-CN" altLang="en-US" sz="1600">
                <a:sym typeface="+mn-ea"/>
              </a:rPr>
              <a:t>实例，然后调用上面那个</a:t>
            </a:r>
            <a:r>
              <a:rPr lang="en-US" altLang="zh-CN" sz="1600">
                <a:sym typeface="+mn-ea"/>
              </a:rPr>
              <a:t>renderToString</a:t>
            </a:r>
            <a:r>
              <a:rPr lang="zh-CN" altLang="en-US" sz="1600">
                <a:sym typeface="+mn-ea"/>
              </a:rPr>
              <a:t>函数</a:t>
            </a:r>
            <a:endParaRPr lang="zh-CN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9875" y="145415"/>
            <a:ext cx="8334375" cy="6462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VUE-SSR</a:t>
            </a:r>
            <a:r>
              <a:rPr lang="zh-CN" altLang="en-US"/>
              <a:t>的数据预取</a:t>
            </a:r>
            <a:endParaRPr lang="zh-CN" altLang="en-US"/>
          </a:p>
          <a:p>
            <a:endParaRPr lang="zh-CN" altLang="en-US"/>
          </a:p>
          <a:p>
            <a:r>
              <a:rPr lang="zh-CN" altLang="en-US" sz="1400" b="1"/>
              <a:t>服务端数据预取的含义</a:t>
            </a:r>
            <a:r>
              <a:rPr lang="zh-CN" altLang="en-US" sz="1400"/>
              <a:t>：在服务端，组装</a:t>
            </a:r>
            <a:r>
              <a:rPr lang="en-US" altLang="zh-CN" sz="1400"/>
              <a:t>html</a:t>
            </a:r>
            <a:r>
              <a:rPr lang="zh-CN" altLang="en-US" sz="1400"/>
              <a:t>文本返给客户端之前，先把</a:t>
            </a:r>
            <a:r>
              <a:rPr lang="en-US" altLang="zh-CN" sz="1400"/>
              <a:t>html</a:t>
            </a:r>
            <a:r>
              <a:rPr lang="zh-CN" altLang="en-US" sz="1400"/>
              <a:t>中初始依赖的数据从服务器获取，并且更新服务端的</a:t>
            </a:r>
            <a:r>
              <a:rPr lang="en-US" altLang="zh-CN" sz="1400"/>
              <a:t>vuex</a:t>
            </a:r>
            <a:r>
              <a:rPr lang="zh-CN" altLang="en-US" sz="1400"/>
              <a:t>状态，然后将数据替换掉</a:t>
            </a:r>
            <a:r>
              <a:rPr lang="en-US" altLang="zh-CN" sz="1400"/>
              <a:t>html</a:t>
            </a:r>
            <a:r>
              <a:rPr lang="zh-CN" altLang="en-US" sz="1400"/>
              <a:t>中的</a:t>
            </a:r>
            <a:r>
              <a:rPr lang="en-US" altLang="zh-CN" sz="1400"/>
              <a:t>{{</a:t>
            </a:r>
            <a:r>
              <a:rPr lang="zh-CN" altLang="en-US" sz="1400"/>
              <a:t>变量</a:t>
            </a:r>
            <a:r>
              <a:rPr lang="en-US" altLang="zh-CN" sz="1400"/>
              <a:t>}}</a:t>
            </a:r>
            <a:r>
              <a:rPr lang="zh-CN" altLang="en-US" sz="1400"/>
              <a:t>，最终返还给客户端一个完整的拥有数据的静态页面。</a:t>
            </a:r>
            <a:r>
              <a:rPr lang="zh-CN" altLang="en-US" sz="1400">
                <a:solidFill>
                  <a:srgbClr val="FF0000"/>
                </a:solidFill>
              </a:rPr>
              <a:t>注意</a:t>
            </a:r>
            <a:r>
              <a:rPr lang="zh-CN" altLang="en-US" sz="1400"/>
              <a:t>：此时客户端的</a:t>
            </a:r>
            <a:r>
              <a:rPr lang="en-US" altLang="zh-CN" sz="1400"/>
              <a:t>vuex</a:t>
            </a:r>
            <a:r>
              <a:rPr lang="zh-CN" altLang="en-US" sz="1400"/>
              <a:t>状态和服务端的</a:t>
            </a:r>
            <a:r>
              <a:rPr lang="en-US" altLang="zh-CN" sz="1400"/>
              <a:t>vuex</a:t>
            </a:r>
            <a:r>
              <a:rPr lang="zh-CN" altLang="en-US" sz="1400"/>
              <a:t>状态不相匹配，所以需要更新客户端的</a:t>
            </a:r>
            <a:r>
              <a:rPr lang="en-US" altLang="zh-CN" sz="1400"/>
              <a:t>vuex</a:t>
            </a:r>
            <a:r>
              <a:rPr lang="zh-CN" altLang="en-US" sz="1400"/>
              <a:t>状态。更新方法：在服务端更新</a:t>
            </a:r>
            <a:r>
              <a:rPr lang="en-US" altLang="zh-CN" sz="1400"/>
              <a:t>store</a:t>
            </a:r>
            <a:r>
              <a:rPr lang="zh-CN" altLang="en-US" sz="1400"/>
              <a:t>后（对应于</a:t>
            </a:r>
            <a:r>
              <a:rPr lang="en-US" altLang="zh-CN" sz="1400"/>
              <a:t>vue-server-renderer</a:t>
            </a:r>
            <a:r>
              <a:rPr lang="zh-CN" altLang="en-US" sz="1400"/>
              <a:t>中的</a:t>
            </a:r>
            <a:r>
              <a:rPr lang="en-US" altLang="zh-CN" sz="1400"/>
              <a:t>run(context)</a:t>
            </a:r>
            <a:r>
              <a:rPr lang="zh-CN" altLang="en-US" sz="1400"/>
              <a:t>方法后</a:t>
            </a:r>
            <a:r>
              <a:rPr lang="zh-CN" altLang="en-US" sz="1400"/>
              <a:t>）</a:t>
            </a:r>
            <a:endParaRPr lang="zh-CN" altLang="en-US" sz="1400"/>
          </a:p>
          <a:p>
            <a:r>
              <a:rPr lang="zh-CN" altLang="en-US" sz="1400"/>
              <a:t>通过</a:t>
            </a:r>
            <a:r>
              <a:rPr lang="en-US" altLang="zh-CN" sz="1400"/>
              <a:t>context.state = store.state, </a:t>
            </a:r>
            <a:r>
              <a:rPr lang="zh-CN" altLang="en-US" sz="1400"/>
              <a:t>将服务端的</a:t>
            </a:r>
            <a:r>
              <a:rPr lang="en-US" altLang="zh-CN" sz="1400"/>
              <a:t>state</a:t>
            </a:r>
            <a:r>
              <a:rPr lang="zh-CN" altLang="en-US" sz="1400"/>
              <a:t>赋值给</a:t>
            </a:r>
            <a:r>
              <a:rPr lang="en-US" altLang="zh-CN" sz="1400"/>
              <a:t>window.__INITIAL_STATE__上</a:t>
            </a:r>
            <a:r>
              <a:rPr lang="zh-CN" altLang="en-US" sz="1400"/>
              <a:t>。然后客户端通过store.replaceState(window.__INITIAL_STATE__)将</a:t>
            </a:r>
            <a:r>
              <a:rPr lang="en-US" altLang="zh-CN" sz="1400"/>
              <a:t>vuex</a:t>
            </a:r>
            <a:r>
              <a:rPr lang="zh-CN" altLang="en-US" sz="1400"/>
              <a:t>的状态进行更新。</a:t>
            </a:r>
            <a:r>
              <a:rPr lang="zh-CN" altLang="en-US" sz="1400" u="sng"/>
              <a:t>经过测试，服务端数据预取只能在页面首次渲染或者页面刷新的时候有用，一旦页面上视图是由于</a:t>
            </a:r>
            <a:r>
              <a:rPr lang="en-US" altLang="zh-CN" sz="1400" u="sng"/>
              <a:t>vue</a:t>
            </a:r>
            <a:r>
              <a:rPr lang="zh-CN" altLang="en-US" sz="1400" u="sng"/>
              <a:t>的路由变化导致的，数据将不能得到变更，此时就要用到客户端数据预取技术</a:t>
            </a:r>
            <a:r>
              <a:rPr lang="zh-CN" altLang="en-US" sz="1400"/>
              <a:t>。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 b="1"/>
              <a:t>客户端数据预取（有两种方式实现）：</a:t>
            </a:r>
            <a:endParaRPr lang="zh-CN" altLang="en-US" sz="1400" b="1"/>
          </a:p>
          <a:p>
            <a:r>
              <a:rPr lang="en-US" altLang="zh-CN" sz="1400"/>
              <a:t>1. </a:t>
            </a:r>
            <a:r>
              <a:rPr lang="zh-CN" altLang="en-US" sz="1400"/>
              <a:t>通过注册router.beforeResolve钩子实现。每当客户端路由变更时，去获取匹配的路由的</a:t>
            </a:r>
            <a:r>
              <a:rPr lang="en-US" altLang="zh-CN" sz="1400"/>
              <a:t>vue</a:t>
            </a:r>
            <a:r>
              <a:rPr lang="zh-CN" altLang="en-US" sz="1400"/>
              <a:t>组件所需要的</a:t>
            </a:r>
            <a:r>
              <a:rPr lang="zh-CN" altLang="en-US" sz="1400"/>
              <a:t>数据，更新</a:t>
            </a:r>
            <a:r>
              <a:rPr lang="en-US" altLang="zh-CN" sz="1400"/>
              <a:t>vuex</a:t>
            </a:r>
            <a:endParaRPr lang="en-US" altLang="zh-CN" sz="1400"/>
          </a:p>
          <a:p>
            <a:r>
              <a:rPr lang="en-US" altLang="zh-CN" sz="1400"/>
              <a:t>2. </a:t>
            </a:r>
            <a:r>
              <a:rPr lang="zh-CN" altLang="en-US" sz="1400"/>
              <a:t>通过注册</a:t>
            </a:r>
            <a:r>
              <a:rPr lang="en-US" altLang="zh-CN" sz="1400"/>
              <a:t>Vue</a:t>
            </a:r>
            <a:r>
              <a:rPr lang="zh-CN" altLang="en-US" sz="1400"/>
              <a:t>全局钩子函数beforeMount。让所有</a:t>
            </a:r>
            <a:r>
              <a:rPr lang="en-US" altLang="zh-CN" sz="1400"/>
              <a:t>vue</a:t>
            </a:r>
            <a:r>
              <a:rPr lang="zh-CN" altLang="en-US" sz="1400"/>
              <a:t>组件在beforeMount钩子函数的时候，都去检测要不要获取初始数据更新</a:t>
            </a:r>
            <a:r>
              <a:rPr lang="en-US" altLang="zh-CN" sz="1400"/>
              <a:t>vuex</a:t>
            </a:r>
            <a:r>
              <a:rPr lang="zh-CN" altLang="en-US" sz="1400"/>
              <a:t>。这个方法可以适用于自定义组件的数据获取。</a:t>
            </a:r>
            <a:endParaRPr lang="en-US" altLang="zh-CN" sz="1400"/>
          </a:p>
          <a:p>
            <a:r>
              <a:rPr lang="zh-CN" altLang="en-US" sz="1400">
                <a:solidFill>
                  <a:srgbClr val="FF0000"/>
                </a:solidFill>
              </a:rPr>
              <a:t>注意</a:t>
            </a:r>
            <a:r>
              <a:rPr lang="zh-CN" altLang="en-US" sz="1400"/>
              <a:t>：</a:t>
            </a:r>
            <a:r>
              <a:rPr lang="zh-CN" altLang="en-US" sz="1400" u="sng"/>
              <a:t>这两种方式的区别，第一个是在跳转到下一个视图之前去获取数据，第二个是已经跳转到下一个视图后才去获取数据，相对来说第二个的路由跳转响应程度比第一个快，但第二个会让页面出现短暂的没有真实数据的视图。还有就是第一个没办法实现自定义组件的数据获取，第二个可以。</a:t>
            </a:r>
            <a:endParaRPr lang="zh-CN" altLang="en-US" sz="1400" u="sng"/>
          </a:p>
          <a:p>
            <a:endParaRPr lang="zh-CN" altLang="en-US" sz="1400" u="sng"/>
          </a:p>
          <a:p>
            <a:r>
              <a:rPr lang="zh-CN" altLang="en-US" sz="1400"/>
              <a:t>还有一个情况，因为在router.beforeResolve钩子函数里面，其规避了</a:t>
            </a:r>
            <a:r>
              <a:rPr lang="en-US" altLang="zh-CN" sz="1400"/>
              <a:t>to</a:t>
            </a:r>
            <a:r>
              <a:rPr lang="zh-CN" altLang="en-US" sz="1400"/>
              <a:t>和</a:t>
            </a:r>
            <a:r>
              <a:rPr lang="en-US" altLang="zh-CN" sz="1400"/>
              <a:t>from</a:t>
            </a:r>
            <a:r>
              <a:rPr lang="zh-CN" altLang="en-US" sz="1400"/>
              <a:t>路由所在组件是同一个的情况。但是这种情况又是存在的，比如路由配置为</a:t>
            </a:r>
            <a:r>
              <a:rPr lang="en-US" altLang="zh-CN" sz="1400"/>
              <a:t>/book/:id</a:t>
            </a:r>
            <a:r>
              <a:rPr lang="zh-CN" altLang="en-US" sz="1400"/>
              <a:t>的路由，其从</a:t>
            </a:r>
            <a:r>
              <a:rPr lang="en-US" altLang="zh-CN" sz="1400"/>
              <a:t>/book/1</a:t>
            </a:r>
            <a:r>
              <a:rPr lang="zh-CN" altLang="en-US" sz="1400"/>
              <a:t>跳转到</a:t>
            </a:r>
            <a:r>
              <a:rPr lang="en-US" altLang="zh-CN" sz="1400"/>
              <a:t>/book/2</a:t>
            </a:r>
            <a:r>
              <a:rPr lang="zh-CN" altLang="en-US" sz="1400"/>
              <a:t>时，两者依赖的组件就是同一个</a:t>
            </a:r>
            <a:r>
              <a:rPr lang="en-US" altLang="zh-CN" sz="1400"/>
              <a:t>book</a:t>
            </a:r>
            <a:r>
              <a:rPr lang="zh-CN" altLang="en-US" sz="1400"/>
              <a:t>组件，所以没有在router.beforeResolve钩子中执行获取数据的操作，同理也不会在</a:t>
            </a:r>
            <a:r>
              <a:rPr lang="en-US" altLang="zh-CN" sz="1400"/>
              <a:t>beforeMount</a:t>
            </a:r>
            <a:r>
              <a:rPr lang="zh-CN" altLang="en-US" sz="1400"/>
              <a:t>中执行获取数据的操作</a:t>
            </a:r>
            <a:r>
              <a:rPr lang="en-US" altLang="zh-CN" sz="1400"/>
              <a:t>(</a:t>
            </a:r>
            <a:r>
              <a:rPr lang="zh-CN" altLang="en-US" sz="1400"/>
              <a:t>因为上一次路由中</a:t>
            </a:r>
            <a:r>
              <a:rPr lang="en-US" altLang="zh-CN" sz="1400"/>
              <a:t>book</a:t>
            </a:r>
            <a:r>
              <a:rPr lang="zh-CN" altLang="en-US" sz="1400"/>
              <a:t>组件已经</a:t>
            </a:r>
            <a:r>
              <a:rPr lang="en-US" altLang="zh-CN" sz="1400"/>
              <a:t>mounted</a:t>
            </a:r>
            <a:r>
              <a:rPr lang="zh-CN" altLang="en-US" sz="1400"/>
              <a:t>了</a:t>
            </a:r>
            <a:r>
              <a:rPr lang="en-US" altLang="zh-CN" sz="1400"/>
              <a:t>)</a:t>
            </a:r>
            <a:r>
              <a:rPr lang="zh-CN" altLang="en-US" sz="1400"/>
              <a:t>。故需要再加一种办法来处理这种情况。该方法也是注册</a:t>
            </a:r>
            <a:r>
              <a:rPr lang="en-US" altLang="zh-CN" sz="1400"/>
              <a:t>Vue</a:t>
            </a:r>
            <a:r>
              <a:rPr lang="zh-CN" altLang="en-US" sz="1400"/>
              <a:t>全局函数beforeRouteUpdate去监听路由参数的变化，变化后执行更新操作。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总结：</a:t>
            </a:r>
            <a:r>
              <a:rPr lang="zh-CN" altLang="en-US" sz="1400" i="1"/>
              <a:t>通过上面对两种数据预取的研究，在开发中，应该将两种数据预取方式相结合。页面初次渲染采用服务端数据预取，页面路由跳转采用客户端数据预取。</a:t>
            </a:r>
            <a:endParaRPr lang="zh-CN" altLang="en-US" sz="14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21310" y="102870"/>
            <a:ext cx="8427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VUE-SSR</a:t>
            </a:r>
            <a:r>
              <a:rPr lang="zh-CN" altLang="en-US"/>
              <a:t>页面初次加载的过程</a:t>
            </a: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21310" y="1088390"/>
            <a:ext cx="1512570" cy="43243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200"/>
              <a:t>1. </a:t>
            </a:r>
            <a:r>
              <a:rPr lang="zh-CN" altLang="en-US" sz="1200"/>
              <a:t>输入</a:t>
            </a:r>
            <a:r>
              <a:rPr lang="en-US" altLang="zh-CN" sz="1200"/>
              <a:t>url</a:t>
            </a:r>
            <a:r>
              <a:rPr lang="zh-CN" altLang="en-US" sz="1200"/>
              <a:t>后</a:t>
            </a:r>
            <a:endParaRPr lang="zh-CN" altLang="en-US" sz="1200"/>
          </a:p>
        </p:txBody>
      </p:sp>
      <p:sp>
        <p:nvSpPr>
          <p:cNvPr id="8" name="圆角矩形 7"/>
          <p:cNvSpPr/>
          <p:nvPr/>
        </p:nvSpPr>
        <p:spPr>
          <a:xfrm>
            <a:off x="2140585" y="929640"/>
            <a:ext cx="1512570" cy="7493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200"/>
              <a:t>2. node</a:t>
            </a:r>
            <a:r>
              <a:rPr lang="zh-CN" altLang="en-US" sz="1200"/>
              <a:t>服务执行</a:t>
            </a:r>
            <a:r>
              <a:rPr lang="en-US" altLang="zh-CN" sz="1200"/>
              <a:t>get</a:t>
            </a:r>
            <a:r>
              <a:rPr lang="zh-CN" altLang="en-US" sz="1200"/>
              <a:t>路由里面的</a:t>
            </a:r>
            <a:r>
              <a:rPr lang="en-US" altLang="zh-CN" sz="1200"/>
              <a:t>render</a:t>
            </a:r>
            <a:r>
              <a:rPr lang="zh-CN" altLang="en-US" sz="1200"/>
              <a:t>方法</a:t>
            </a:r>
            <a:endParaRPr lang="zh-CN" altLang="en-US" sz="1200"/>
          </a:p>
        </p:txBody>
      </p:sp>
      <p:sp>
        <p:nvSpPr>
          <p:cNvPr id="9" name="圆角矩形 8"/>
          <p:cNvSpPr/>
          <p:nvPr/>
        </p:nvSpPr>
        <p:spPr>
          <a:xfrm>
            <a:off x="4132580" y="621030"/>
            <a:ext cx="2096135" cy="13677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200"/>
              <a:t>3. render</a:t>
            </a:r>
            <a:r>
              <a:rPr lang="zh-CN" altLang="en-US" sz="1200"/>
              <a:t>方法中执行renderer.renderToString</a:t>
            </a:r>
            <a:r>
              <a:rPr lang="en-US" altLang="zh-CN" sz="1200"/>
              <a:t>(context, cb)</a:t>
            </a:r>
            <a:r>
              <a:rPr lang="zh-CN" altLang="en-US" sz="1200"/>
              <a:t>，这儿的renderToString是</a:t>
            </a:r>
            <a:r>
              <a:rPr lang="en-US" altLang="zh-CN" sz="1200">
                <a:sym typeface="+mn-ea"/>
              </a:rPr>
              <a:t>createBundleRenderer</a:t>
            </a:r>
            <a:r>
              <a:rPr lang="zh-CN" altLang="en-US" sz="1200">
                <a:sym typeface="+mn-ea"/>
              </a:rPr>
              <a:t>函数返回的</a:t>
            </a:r>
            <a:endParaRPr lang="zh-CN" altLang="en-US" sz="1200"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579870" y="621030"/>
            <a:ext cx="2096135" cy="13677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200">
                <a:sym typeface="+mn-ea"/>
              </a:rPr>
              <a:t>4. </a:t>
            </a:r>
            <a:r>
              <a:rPr lang="zh-CN" altLang="en-US" sz="1200">
                <a:sym typeface="+mn-ea"/>
              </a:rPr>
              <a:t>在</a:t>
            </a:r>
            <a:r>
              <a:rPr lang="en-US" altLang="zh-CN" sz="1200">
                <a:sym typeface="+mn-ea"/>
              </a:rPr>
              <a:t>renderToString</a:t>
            </a:r>
            <a:r>
              <a:rPr lang="zh-CN" altLang="en-US" sz="1200">
                <a:sym typeface="+mn-ea"/>
              </a:rPr>
              <a:t>函数中，执行</a:t>
            </a:r>
            <a:r>
              <a:rPr lang="en-US" altLang="zh-CN" sz="1200">
                <a:sym typeface="+mn-ea"/>
              </a:rPr>
              <a:t>run(context)</a:t>
            </a:r>
            <a:r>
              <a:rPr lang="zh-CN" altLang="en-US" sz="1200">
                <a:sym typeface="+mn-ea"/>
              </a:rPr>
              <a:t>方法，这个方法返回一个</a:t>
            </a:r>
            <a:r>
              <a:rPr lang="en-US" altLang="zh-CN" sz="1200">
                <a:sym typeface="+mn-ea"/>
              </a:rPr>
              <a:t>promise</a:t>
            </a:r>
            <a:r>
              <a:rPr lang="zh-CN" altLang="en-US" sz="1200">
                <a:sym typeface="+mn-ea"/>
              </a:rPr>
              <a:t>。</a:t>
            </a:r>
            <a:endParaRPr lang="zh-CN" altLang="en-US" sz="1200">
              <a:sym typeface="+mn-ea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579870" y="2401570"/>
            <a:ext cx="2096135" cy="22637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200">
                <a:sym typeface="+mn-ea"/>
              </a:rPr>
              <a:t>5. run(context)</a:t>
            </a:r>
            <a:r>
              <a:rPr lang="zh-CN" altLang="en-US" sz="1200">
                <a:sym typeface="+mn-ea"/>
              </a:rPr>
              <a:t>方法中，再执行</a:t>
            </a:r>
            <a:r>
              <a:rPr lang="en-US" altLang="zh-CN" sz="1200">
                <a:sym typeface="+mn-ea"/>
              </a:rPr>
              <a:t>runner(context)</a:t>
            </a:r>
            <a:r>
              <a:rPr lang="zh-CN" altLang="en-US" sz="1200">
                <a:sym typeface="+mn-ea"/>
              </a:rPr>
              <a:t>方法，这里面的</a:t>
            </a:r>
            <a:r>
              <a:rPr lang="en-US" altLang="zh-CN" sz="1200">
                <a:sym typeface="+mn-ea"/>
              </a:rPr>
              <a:t>runner</a:t>
            </a:r>
            <a:r>
              <a:rPr lang="zh-CN" altLang="en-US" sz="1200">
                <a:sym typeface="+mn-ea"/>
              </a:rPr>
              <a:t>函数，就是</a:t>
            </a:r>
            <a:r>
              <a:rPr lang="en-US" altLang="zh-CN" sz="1200">
                <a:sym typeface="+mn-ea"/>
              </a:rPr>
              <a:t>entry-server.js</a:t>
            </a:r>
            <a:r>
              <a:rPr lang="zh-CN" altLang="en-US" sz="1200">
                <a:sym typeface="+mn-ea"/>
              </a:rPr>
              <a:t>暴露出来的函数。在这个函数中，就对服务端的路由及</a:t>
            </a:r>
            <a:r>
              <a:rPr lang="en-US" altLang="zh-CN" sz="1200">
                <a:sym typeface="+mn-ea"/>
              </a:rPr>
              <a:t>store</a:t>
            </a:r>
            <a:r>
              <a:rPr lang="zh-CN" altLang="en-US" sz="1200">
                <a:sym typeface="+mn-ea"/>
              </a:rPr>
              <a:t>进行了一次更新。并将更新后的</a:t>
            </a:r>
            <a:r>
              <a:rPr lang="en-US" altLang="zh-CN" sz="1200">
                <a:sym typeface="+mn-ea"/>
              </a:rPr>
              <a:t>store</a:t>
            </a:r>
            <a:r>
              <a:rPr lang="zh-CN" altLang="en-US" sz="1200">
                <a:sym typeface="+mn-ea"/>
              </a:rPr>
              <a:t>赋值给</a:t>
            </a:r>
            <a:r>
              <a:rPr lang="en-US" altLang="zh-CN" sz="1200">
                <a:sym typeface="+mn-ea"/>
              </a:rPr>
              <a:t>context.state</a:t>
            </a:r>
            <a:r>
              <a:rPr lang="zh-CN" altLang="en-US" sz="1200">
                <a:sym typeface="+mn-ea"/>
              </a:rPr>
              <a:t>属性。</a:t>
            </a:r>
            <a:r>
              <a:rPr lang="zh-CN" altLang="en-US" sz="1200">
                <a:sym typeface="+mn-ea"/>
              </a:rPr>
              <a:t>该方法返回一个新的</a:t>
            </a:r>
            <a:r>
              <a:rPr lang="en-US" altLang="zh-CN" sz="1200">
                <a:sym typeface="+mn-ea"/>
              </a:rPr>
              <a:t>vue</a:t>
            </a:r>
            <a:r>
              <a:rPr lang="zh-CN" altLang="en-US" sz="1200">
                <a:sym typeface="+mn-ea"/>
              </a:rPr>
              <a:t>实例</a:t>
            </a:r>
            <a:endParaRPr lang="zh-CN" altLang="en-US" sz="1200">
              <a:sym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486785" y="2487295"/>
            <a:ext cx="2096135" cy="13677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200">
                <a:sym typeface="+mn-ea"/>
              </a:rPr>
              <a:t>6. vue</a:t>
            </a:r>
            <a:r>
              <a:rPr lang="zh-CN" altLang="en-US" sz="1200">
                <a:sym typeface="+mn-ea"/>
              </a:rPr>
              <a:t>实例返回后，在第四步的</a:t>
            </a:r>
            <a:r>
              <a:rPr lang="en-US" altLang="zh-CN" sz="1200">
                <a:sym typeface="+mn-ea"/>
              </a:rPr>
              <a:t>run(context).then</a:t>
            </a:r>
            <a:r>
              <a:rPr lang="zh-CN" altLang="en-US" sz="1200">
                <a:sym typeface="+mn-ea"/>
              </a:rPr>
              <a:t>回调函数里面接收这个实例。并执行renderer.renderToString</a:t>
            </a:r>
            <a:r>
              <a:rPr lang="en-US" altLang="zh-CN" sz="1200">
                <a:sym typeface="+mn-ea"/>
              </a:rPr>
              <a:t>(app, context, cb)</a:t>
            </a:r>
            <a:r>
              <a:rPr lang="zh-CN" altLang="en-US" sz="1200">
                <a:sym typeface="+mn-ea"/>
              </a:rPr>
              <a:t>方法</a:t>
            </a:r>
            <a:endParaRPr lang="zh-CN" altLang="en-US" sz="1200"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96875" y="2487295"/>
            <a:ext cx="2096135" cy="13677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200">
                <a:sym typeface="+mn-ea"/>
              </a:rPr>
              <a:t>7. </a:t>
            </a:r>
            <a:r>
              <a:rPr lang="zh-CN" altLang="en-US" sz="1200">
                <a:sym typeface="+mn-ea"/>
              </a:rPr>
              <a:t>renderer.renderToString方法就是</a:t>
            </a:r>
            <a:r>
              <a:rPr lang="zh-CN" altLang="en-US" sz="1200">
                <a:sym typeface="+mn-ea"/>
              </a:rPr>
              <a:t>createRenderer函数返回的方法。</a:t>
            </a:r>
            <a:endParaRPr lang="zh-CN" altLang="en-US" sz="1200">
              <a:sym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186690" y="4544695"/>
            <a:ext cx="2800985" cy="208978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200">
                <a:sym typeface="+mn-ea"/>
              </a:rPr>
              <a:t>8. </a:t>
            </a:r>
            <a:r>
              <a:rPr lang="zh-CN" altLang="en-US" sz="1200">
                <a:sym typeface="+mn-ea"/>
              </a:rPr>
              <a:t>renderer.renderToString方法中，先把</a:t>
            </a:r>
            <a:r>
              <a:rPr lang="en-US" altLang="zh-CN" sz="1200">
                <a:sym typeface="+mn-ea"/>
              </a:rPr>
              <a:t>context</a:t>
            </a:r>
            <a:r>
              <a:rPr lang="zh-CN" altLang="en-US" sz="1200">
                <a:sym typeface="+mn-ea"/>
              </a:rPr>
              <a:t>通过templateRenderer.bindRenderFns(context)方法进行一个初始化绑定。这个绑定就可以把第五步赋值给</a:t>
            </a:r>
            <a:r>
              <a:rPr lang="en-US" altLang="zh-CN" sz="1200">
                <a:sym typeface="+mn-ea"/>
              </a:rPr>
              <a:t>context.state</a:t>
            </a:r>
            <a:r>
              <a:rPr lang="zh-CN" altLang="en-US" sz="1200">
                <a:sym typeface="+mn-ea"/>
              </a:rPr>
              <a:t>的状态，再次赋值给window.__INITIAL_STATE__。客户端拿到window.__INITIAL_STATE__，就可以更新客户端的</a:t>
            </a:r>
            <a:r>
              <a:rPr lang="en-US" altLang="zh-CN" sz="1200">
                <a:sym typeface="+mn-ea"/>
              </a:rPr>
              <a:t>vuex</a:t>
            </a:r>
            <a:r>
              <a:rPr lang="zh-CN" altLang="en-US" sz="1200">
                <a:sym typeface="+mn-ea"/>
              </a:rPr>
              <a:t>了</a:t>
            </a:r>
            <a:endParaRPr lang="zh-CN" altLang="en-US" sz="1200"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653155" y="4544060"/>
            <a:ext cx="2800985" cy="208978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200">
                <a:sym typeface="+mn-ea"/>
              </a:rPr>
              <a:t>9. </a:t>
            </a:r>
            <a:r>
              <a:rPr lang="zh-CN" altLang="en-US" sz="1200">
                <a:sym typeface="+mn-ea"/>
              </a:rPr>
              <a:t>renderer.renderToString方法中templateRenderer.bindRenderFns(context)执行后。执行一个</a:t>
            </a:r>
            <a:r>
              <a:rPr lang="en-US" altLang="zh-CN" sz="1200">
                <a:sym typeface="+mn-ea"/>
              </a:rPr>
              <a:t>render</a:t>
            </a:r>
            <a:r>
              <a:rPr lang="zh-CN" altLang="en-US" sz="1200">
                <a:sym typeface="+mn-ea"/>
              </a:rPr>
              <a:t>方法，这个方法就是去编译</a:t>
            </a:r>
            <a:r>
              <a:rPr lang="en-US" altLang="zh-CN" sz="1200">
                <a:sym typeface="+mn-ea"/>
              </a:rPr>
              <a:t>html</a:t>
            </a:r>
            <a:r>
              <a:rPr lang="zh-CN" altLang="en-US" sz="1200">
                <a:sym typeface="+mn-ea"/>
              </a:rPr>
              <a:t>文本。编译好后，根据函数调用栈，最终返还给了第三步的renderer.renderToString的</a:t>
            </a:r>
            <a:r>
              <a:rPr lang="en-US" altLang="zh-CN" sz="1200">
                <a:sym typeface="+mn-ea"/>
              </a:rPr>
              <a:t>cb</a:t>
            </a:r>
            <a:r>
              <a:rPr lang="zh-CN" altLang="en-US" sz="1200">
                <a:sym typeface="+mn-ea"/>
              </a:rPr>
              <a:t>中，然后执行</a:t>
            </a:r>
            <a:r>
              <a:rPr lang="en-US" altLang="zh-CN" sz="1200">
                <a:sym typeface="+mn-ea"/>
              </a:rPr>
              <a:t>res.send(html)</a:t>
            </a:r>
            <a:r>
              <a:rPr lang="zh-CN" altLang="en-US" sz="1200">
                <a:sym typeface="+mn-ea"/>
              </a:rPr>
              <a:t>。将初次渲染的</a:t>
            </a:r>
            <a:r>
              <a:rPr lang="en-US" altLang="zh-CN" sz="1200">
                <a:sym typeface="+mn-ea"/>
              </a:rPr>
              <a:t>html</a:t>
            </a:r>
            <a:r>
              <a:rPr lang="zh-CN" altLang="en-US" sz="1200">
                <a:sym typeface="+mn-ea"/>
              </a:rPr>
              <a:t>文本返还给了客户端。</a:t>
            </a:r>
            <a:endParaRPr lang="zh-CN" altLang="en-US" sz="1200">
              <a:sym typeface="+mn-ea"/>
            </a:endParaRPr>
          </a:p>
        </p:txBody>
      </p:sp>
      <p:cxnSp>
        <p:nvCxnSpPr>
          <p:cNvPr id="17" name="直接箭头连接符 16"/>
          <p:cNvCxnSpPr>
            <a:stCxn id="5" idx="3"/>
            <a:endCxn id="8" idx="1"/>
          </p:cNvCxnSpPr>
          <p:nvPr/>
        </p:nvCxnSpPr>
        <p:spPr>
          <a:xfrm flipV="1">
            <a:off x="1833880" y="1376045"/>
            <a:ext cx="306705" cy="6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V="1">
            <a:off x="3739515" y="1303655"/>
            <a:ext cx="306705" cy="6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6228715" y="1216025"/>
            <a:ext cx="306705" cy="6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0" idx="2"/>
            <a:endCxn id="12" idx="0"/>
          </p:cNvCxnSpPr>
          <p:nvPr/>
        </p:nvCxnSpPr>
        <p:spPr>
          <a:xfrm>
            <a:off x="7628255" y="1988820"/>
            <a:ext cx="0" cy="4127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 flipV="1">
            <a:off x="5652135" y="3068955"/>
            <a:ext cx="822325" cy="158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 flipV="1">
            <a:off x="2578735" y="3084830"/>
            <a:ext cx="822325" cy="1587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1403985" y="3933190"/>
            <a:ext cx="0" cy="431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2987675" y="5589270"/>
            <a:ext cx="50419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3235</Words>
  <Application>WPS 演示</Application>
  <PresentationFormat/>
  <Paragraphs>71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Arial Unicode MS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JC</dc:creator>
  <cp:lastModifiedBy>JC</cp:lastModifiedBy>
  <cp:revision>21</cp:revision>
  <dcterms:created xsi:type="dcterms:W3CDTF">2019-12-17T07:52:40Z</dcterms:created>
  <dcterms:modified xsi:type="dcterms:W3CDTF">2019-12-25T07:39:15Z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2052-11.1.0.9305</vt:lpwstr>
  </property>
</Properties>
</file>