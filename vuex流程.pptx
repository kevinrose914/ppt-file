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</p:sldIdLst>
  <p:sldSz cx="9144000" cy="6858000" type="screen4x3"/>
  <p:notesSz cx="6858000" cy="9144000"/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howGuides="1">
      <p:cViewPr varScale="1">
        <p:scale>
          <a:sx n="69" d="100"/>
          <a:sy n="69" d="100"/>
        </p:scale>
        <p:origin x="-138" y="-102"/>
      </p:cViewPr>
      <p:guideLst>
        <p:guide orient="horz" pos="216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2504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4296" y="1600200"/>
            <a:ext cx="4032504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52930" cy="5851525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标题 1025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文本占位符 1026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28" name="日期占位符 1027"/>
          <p:cNvSpPr>
            <a:spLocks noGrp="1"/>
          </p:cNvSpPr>
          <p:nvPr>
            <p:ph type="dt" sz="half" idx="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 sz="1400"/>
            </a:lvl1pPr>
          </a:lstStyle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1029" name="页脚占位符 1028"/>
          <p:cNvSpPr>
            <a:spLocks noGrp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400"/>
            </a:lvl1pPr>
          </a:lstStyle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1030" name="灯片编号占位符 1029"/>
          <p:cNvSpPr>
            <a:spLocks noGrp="1"/>
          </p:cNvSpPr>
          <p:nvPr>
            <p:ph type="sldNum" sz="quarter" idx="4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400"/>
            </a:lvl1pPr>
          </a:lstStyle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marL="0" lvl="0" indent="0" algn="ctr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32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9" name="文本框 1"/>
          <p:cNvSpPr txBox="1"/>
          <p:nvPr/>
        </p:nvSpPr>
        <p:spPr>
          <a:xfrm>
            <a:off x="441325" y="222250"/>
            <a:ext cx="5641975" cy="36830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Vuex</a:t>
            </a:r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  <a:t>流程图</a:t>
            </a:r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" name="圆角矩形 2"/>
          <p:cNvSpPr/>
          <p:nvPr/>
        </p:nvSpPr>
        <p:spPr>
          <a:xfrm>
            <a:off x="3389313" y="1008063"/>
            <a:ext cx="1944688" cy="50323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r>
              <a:rPr lang="en-US" altLang="zh-CN" strike="noStrike" noProof="1"/>
              <a:t>vue</a:t>
            </a:r>
            <a:r>
              <a:rPr lang="zh-CN" altLang="en-US" strike="noStrike" noProof="1"/>
              <a:t>实例</a:t>
            </a:r>
            <a:endParaRPr lang="zh-CN" altLang="en-US" strike="noStrike" noProof="1"/>
          </a:p>
        </p:txBody>
      </p:sp>
      <p:sp>
        <p:nvSpPr>
          <p:cNvPr id="5" name="圆角矩形 4"/>
          <p:cNvSpPr/>
          <p:nvPr/>
        </p:nvSpPr>
        <p:spPr>
          <a:xfrm>
            <a:off x="6249988" y="2595563"/>
            <a:ext cx="1944688" cy="50482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r>
              <a:rPr lang="en-US" altLang="zh-CN" strike="noStrike" noProof="1"/>
              <a:t>actions</a:t>
            </a:r>
            <a:endParaRPr lang="en-US" altLang="zh-CN" strike="noStrike" noProof="1"/>
          </a:p>
        </p:txBody>
      </p:sp>
      <p:cxnSp>
        <p:nvCxnSpPr>
          <p:cNvPr id="7" name="直接箭头连接符 6"/>
          <p:cNvCxnSpPr/>
          <p:nvPr/>
        </p:nvCxnSpPr>
        <p:spPr>
          <a:xfrm>
            <a:off x="5521325" y="1339850"/>
            <a:ext cx="1571625" cy="10810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53" name="文本框 7"/>
          <p:cNvSpPr txBox="1"/>
          <p:nvPr/>
        </p:nvSpPr>
        <p:spPr>
          <a:xfrm>
            <a:off x="6249988" y="1511300"/>
            <a:ext cx="2030412" cy="36830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dispatch</a:t>
            </a:r>
            <a:endParaRPr lang="en-US" altLang="zh-CN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9" name="圆角矩形 8"/>
          <p:cNvSpPr/>
          <p:nvPr/>
        </p:nvSpPr>
        <p:spPr>
          <a:xfrm>
            <a:off x="3389313" y="4303713"/>
            <a:ext cx="1944688" cy="50482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r>
              <a:rPr lang="en-US" altLang="zh-CN" strike="noStrike" noProof="1"/>
              <a:t>mutations</a:t>
            </a:r>
            <a:endParaRPr lang="en-US" altLang="zh-CN" strike="noStrike" noProof="1"/>
          </a:p>
        </p:txBody>
      </p:sp>
      <p:cxnSp>
        <p:nvCxnSpPr>
          <p:cNvPr id="11" name="直接箭头连接符 10"/>
          <p:cNvCxnSpPr/>
          <p:nvPr/>
        </p:nvCxnSpPr>
        <p:spPr>
          <a:xfrm flipH="1">
            <a:off x="5508625" y="3230563"/>
            <a:ext cx="1576388" cy="127793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56" name="文本框 11"/>
          <p:cNvSpPr txBox="1"/>
          <p:nvPr/>
        </p:nvSpPr>
        <p:spPr>
          <a:xfrm>
            <a:off x="6286500" y="3711575"/>
            <a:ext cx="2246313" cy="36830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commit</a:t>
            </a:r>
            <a:endParaRPr lang="en-US" altLang="zh-CN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" name="圆角矩形 12"/>
          <p:cNvSpPr/>
          <p:nvPr/>
        </p:nvSpPr>
        <p:spPr>
          <a:xfrm>
            <a:off x="706438" y="2595563"/>
            <a:ext cx="1944688" cy="50482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r>
              <a:rPr lang="en-US" altLang="zh-CN" strike="noStrike" noProof="1"/>
              <a:t>state</a:t>
            </a:r>
            <a:endParaRPr lang="en-US" altLang="zh-CN" strike="noStrike" noProof="1"/>
          </a:p>
        </p:txBody>
      </p:sp>
      <p:cxnSp>
        <p:nvCxnSpPr>
          <p:cNvPr id="14" name="直接箭头连接符 13"/>
          <p:cNvCxnSpPr/>
          <p:nvPr/>
        </p:nvCxnSpPr>
        <p:spPr>
          <a:xfrm flipH="1" flipV="1">
            <a:off x="1619250" y="3213100"/>
            <a:ext cx="1631950" cy="128905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59" name="文本框 14"/>
          <p:cNvSpPr txBox="1"/>
          <p:nvPr/>
        </p:nvSpPr>
        <p:spPr>
          <a:xfrm>
            <a:off x="887413" y="3781425"/>
            <a:ext cx="2284412" cy="36830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change state</a:t>
            </a:r>
            <a:endParaRPr lang="en-US" altLang="zh-CN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cxnSp>
        <p:nvCxnSpPr>
          <p:cNvPr id="16" name="直接箭头连接符 15"/>
          <p:cNvCxnSpPr/>
          <p:nvPr/>
        </p:nvCxnSpPr>
        <p:spPr>
          <a:xfrm flipV="1">
            <a:off x="1609725" y="1268413"/>
            <a:ext cx="1666875" cy="12319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61" name="文本框 16"/>
          <p:cNvSpPr txBox="1"/>
          <p:nvPr/>
        </p:nvSpPr>
        <p:spPr>
          <a:xfrm>
            <a:off x="1484313" y="1563688"/>
            <a:ext cx="1917700" cy="36830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render</a:t>
            </a:r>
            <a:endParaRPr lang="en-US" altLang="zh-CN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/>
        </p:nvSpPr>
        <p:spPr>
          <a:xfrm>
            <a:off x="269875" y="154305"/>
            <a:ext cx="8736330" cy="45231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vuex</a:t>
            </a:r>
            <a:r>
              <a:rPr lang="zh-CN" altLang="en-US"/>
              <a:t>在</a:t>
            </a:r>
            <a:r>
              <a:rPr lang="en-US" altLang="zh-CN"/>
              <a:t>vue</a:t>
            </a:r>
            <a:r>
              <a:rPr lang="zh-CN" altLang="en-US"/>
              <a:t>项目中的初始化</a:t>
            </a:r>
            <a:endParaRPr lang="zh-CN" altLang="en-US"/>
          </a:p>
          <a:p>
            <a:endParaRPr lang="zh-CN" altLang="en-US"/>
          </a:p>
          <a:p>
            <a:r>
              <a:rPr lang="en-US" altLang="zh-CN"/>
              <a:t>1. vue.use(vuex): </a:t>
            </a:r>
            <a:r>
              <a:rPr lang="zh-CN" altLang="en-US"/>
              <a:t>这里其实就是执行</a:t>
            </a:r>
            <a:r>
              <a:rPr lang="en-US" altLang="zh-CN"/>
              <a:t>vuex</a:t>
            </a:r>
            <a:r>
              <a:rPr lang="zh-CN" altLang="en-US"/>
              <a:t>对象里面的</a:t>
            </a:r>
            <a:r>
              <a:rPr lang="en-US" altLang="zh-CN"/>
              <a:t>install</a:t>
            </a:r>
            <a:r>
              <a:rPr lang="zh-CN" altLang="en-US"/>
              <a:t>方法，扩展了</a:t>
            </a:r>
            <a:r>
              <a:rPr lang="en-US" altLang="zh-CN"/>
              <a:t>vue</a:t>
            </a:r>
            <a:r>
              <a:rPr lang="zh-CN" altLang="en-US"/>
              <a:t>的</a:t>
            </a:r>
            <a:r>
              <a:rPr lang="en-US" altLang="zh-CN"/>
              <a:t>beforeCreate</a:t>
            </a:r>
            <a:r>
              <a:rPr lang="zh-CN" altLang="en-US"/>
              <a:t>生命周期钩子函数，让</a:t>
            </a:r>
            <a:r>
              <a:rPr lang="en-US" altLang="zh-CN"/>
              <a:t>vue</a:t>
            </a:r>
            <a:r>
              <a:rPr lang="zh-CN" altLang="en-US"/>
              <a:t>实例在</a:t>
            </a:r>
            <a:r>
              <a:rPr lang="en-US" altLang="zh-CN"/>
              <a:t>beforeCreate</a:t>
            </a:r>
            <a:r>
              <a:rPr lang="zh-CN" altLang="en-US"/>
              <a:t>钩子时，执行</a:t>
            </a:r>
            <a:r>
              <a:rPr lang="en-US" altLang="zh-CN"/>
              <a:t>vuexInit</a:t>
            </a:r>
            <a:r>
              <a:rPr lang="zh-CN" altLang="en-US"/>
              <a:t>方法</a:t>
            </a:r>
            <a:endParaRPr lang="zh-CN" altLang="en-US"/>
          </a:p>
          <a:p>
            <a:endParaRPr lang="zh-CN" altLang="en-US"/>
          </a:p>
          <a:p>
            <a:r>
              <a:rPr lang="en-US" altLang="zh-CN"/>
              <a:t>2. vuexInit(): </a:t>
            </a:r>
            <a:r>
              <a:rPr lang="zh-CN" altLang="en-US"/>
              <a:t>在</a:t>
            </a:r>
            <a:r>
              <a:rPr lang="en-US" altLang="zh-CN"/>
              <a:t>vue</a:t>
            </a:r>
            <a:r>
              <a:rPr lang="zh-CN" altLang="en-US"/>
              <a:t>实例进行</a:t>
            </a:r>
            <a:r>
              <a:rPr lang="en-US" altLang="zh-CN"/>
              <a:t>beforeCreate</a:t>
            </a:r>
            <a:r>
              <a:rPr lang="zh-CN" altLang="en-US"/>
              <a:t>钩子函数时，将初始化中</a:t>
            </a:r>
            <a:r>
              <a:rPr lang="en-US" altLang="zh-CN"/>
              <a:t>new Vue</a:t>
            </a:r>
            <a:r>
              <a:rPr lang="zh-CN" altLang="en-US"/>
              <a:t>里面传入的</a:t>
            </a:r>
            <a:r>
              <a:rPr lang="en-US" altLang="zh-CN"/>
              <a:t>store</a:t>
            </a:r>
            <a:r>
              <a:rPr lang="zh-CN" altLang="en-US"/>
              <a:t>挂载到</a:t>
            </a:r>
            <a:r>
              <a:rPr lang="en-US" altLang="zh-CN"/>
              <a:t>vue</a:t>
            </a:r>
            <a:r>
              <a:rPr lang="zh-CN" altLang="en-US"/>
              <a:t>实例的</a:t>
            </a:r>
            <a:r>
              <a:rPr lang="en-US" altLang="zh-CN"/>
              <a:t>$store</a:t>
            </a:r>
            <a:r>
              <a:rPr lang="zh-CN" altLang="en-US"/>
              <a:t>属性上。这样</a:t>
            </a:r>
            <a:r>
              <a:rPr lang="en-US" altLang="zh-CN"/>
              <a:t>vue</a:t>
            </a:r>
            <a:r>
              <a:rPr lang="zh-CN" altLang="en-US"/>
              <a:t>实例代码中，就可以通过</a:t>
            </a:r>
            <a:r>
              <a:rPr lang="en-US" altLang="zh-CN"/>
              <a:t>this.$store</a:t>
            </a:r>
            <a:r>
              <a:rPr lang="zh-CN" altLang="en-US"/>
              <a:t>来操作</a:t>
            </a:r>
            <a:r>
              <a:rPr lang="en-US" altLang="zh-CN"/>
              <a:t>store</a:t>
            </a:r>
            <a:r>
              <a:rPr lang="zh-CN" altLang="en-US"/>
              <a:t>里面的各个方法及属性</a:t>
            </a:r>
            <a:endParaRPr lang="zh-CN" altLang="en-US"/>
          </a:p>
          <a:p>
            <a:endParaRPr lang="zh-CN" altLang="en-US"/>
          </a:p>
          <a:p>
            <a:r>
              <a:rPr lang="en-US" altLang="zh-CN"/>
              <a:t>3. new Vuex.Store({modules: xxx, getters: xxx}): </a:t>
            </a:r>
            <a:r>
              <a:rPr lang="zh-CN" altLang="en-US"/>
              <a:t>该方法用于初始化</a:t>
            </a:r>
            <a:r>
              <a:rPr lang="en-US" altLang="zh-CN"/>
              <a:t>store</a:t>
            </a:r>
            <a:r>
              <a:rPr lang="zh-CN" altLang="en-US"/>
              <a:t>，并返回一个</a:t>
            </a:r>
            <a:r>
              <a:rPr lang="en-US" altLang="zh-CN"/>
              <a:t>store</a:t>
            </a:r>
            <a:r>
              <a:rPr lang="zh-CN" altLang="en-US"/>
              <a:t>对象。方法内部将各个</a:t>
            </a:r>
            <a:r>
              <a:rPr lang="en-US" altLang="zh-CN"/>
              <a:t>module</a:t>
            </a:r>
            <a:r>
              <a:rPr lang="zh-CN" altLang="en-US"/>
              <a:t>的</a:t>
            </a:r>
            <a:r>
              <a:rPr lang="en-US" altLang="zh-CN"/>
              <a:t>mutations</a:t>
            </a:r>
            <a:r>
              <a:rPr lang="zh-CN" altLang="en-US"/>
              <a:t>、</a:t>
            </a:r>
            <a:r>
              <a:rPr lang="en-US" altLang="zh-CN"/>
              <a:t>actions</a:t>
            </a:r>
            <a:r>
              <a:rPr lang="zh-CN" altLang="en-US"/>
              <a:t>、</a:t>
            </a:r>
            <a:r>
              <a:rPr lang="en-US" altLang="zh-CN"/>
              <a:t>getters</a:t>
            </a:r>
            <a:r>
              <a:rPr lang="zh-CN" altLang="en-US"/>
              <a:t>整合到了</a:t>
            </a:r>
            <a:r>
              <a:rPr lang="en-US" altLang="zh-CN"/>
              <a:t>store</a:t>
            </a:r>
            <a:r>
              <a:rPr lang="zh-CN" altLang="en-US"/>
              <a:t>对应的属性下。将各个</a:t>
            </a:r>
            <a:r>
              <a:rPr lang="en-US" altLang="zh-CN"/>
              <a:t>module</a:t>
            </a:r>
            <a:r>
              <a:rPr lang="zh-CN" altLang="en-US"/>
              <a:t>的</a:t>
            </a:r>
            <a:r>
              <a:rPr lang="en-US" altLang="zh-CN"/>
              <a:t>state</a:t>
            </a:r>
            <a:r>
              <a:rPr lang="zh-CN" altLang="en-US"/>
              <a:t>追加到根</a:t>
            </a:r>
            <a:r>
              <a:rPr lang="en-US" altLang="zh-CN"/>
              <a:t>module</a:t>
            </a:r>
            <a:r>
              <a:rPr lang="zh-CN" altLang="en-US"/>
              <a:t>的</a:t>
            </a:r>
            <a:r>
              <a:rPr lang="en-US" altLang="zh-CN"/>
              <a:t>state</a:t>
            </a:r>
            <a:r>
              <a:rPr lang="zh-CN" altLang="en-US"/>
              <a:t>下。并初始化了一个</a:t>
            </a:r>
            <a:r>
              <a:rPr lang="en-US" altLang="zh-CN"/>
              <a:t>store._vm</a:t>
            </a:r>
            <a:r>
              <a:rPr lang="zh-CN" altLang="en-US"/>
              <a:t>，其值为一个</a:t>
            </a:r>
            <a:r>
              <a:rPr lang="en-US" altLang="zh-CN"/>
              <a:t>vue</a:t>
            </a:r>
            <a:r>
              <a:rPr lang="zh-CN" altLang="en-US"/>
              <a:t>实例，实例化</a:t>
            </a:r>
            <a:r>
              <a:rPr lang="en-US" altLang="zh-CN"/>
              <a:t>vue</a:t>
            </a:r>
            <a:r>
              <a:rPr lang="zh-CN" altLang="en-US"/>
              <a:t>后，就可以通过</a:t>
            </a:r>
            <a:r>
              <a:rPr lang="en-US" altLang="zh-CN"/>
              <a:t>store.state</a:t>
            </a:r>
            <a:r>
              <a:rPr lang="zh-CN" altLang="en-US"/>
              <a:t>获取所有</a:t>
            </a:r>
            <a:r>
              <a:rPr lang="en-US" altLang="zh-CN"/>
              <a:t>module</a:t>
            </a:r>
            <a:r>
              <a:rPr lang="zh-CN" altLang="en-US"/>
              <a:t>的</a:t>
            </a:r>
            <a:r>
              <a:rPr lang="en-US" altLang="zh-CN"/>
              <a:t>state</a:t>
            </a:r>
            <a:r>
              <a:rPr lang="zh-CN" altLang="en-US"/>
              <a:t>了。在</a:t>
            </a:r>
            <a:r>
              <a:rPr lang="en-US" altLang="zh-CN"/>
              <a:t>vue</a:t>
            </a:r>
            <a:r>
              <a:rPr lang="zh-CN" altLang="en-US"/>
              <a:t>组件实例代码中，就可以体现为通过</a:t>
            </a:r>
            <a:r>
              <a:rPr lang="en-US" altLang="zh-CN"/>
              <a:t>this.$store.state</a:t>
            </a:r>
            <a:r>
              <a:rPr lang="zh-CN" altLang="en-US"/>
              <a:t>可以访问所有</a:t>
            </a:r>
            <a:r>
              <a:rPr lang="en-US" altLang="zh-CN"/>
              <a:t>state</a:t>
            </a:r>
            <a:r>
              <a:rPr lang="zh-CN" altLang="en-US"/>
              <a:t>属性</a:t>
            </a:r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226695" y="154305"/>
            <a:ext cx="7729855" cy="56311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vuex</a:t>
            </a:r>
            <a:r>
              <a:rPr lang="zh-CN" altLang="en-US"/>
              <a:t>状态变化后，</a:t>
            </a:r>
            <a:r>
              <a:rPr lang="en-US" altLang="zh-CN"/>
              <a:t>vue</a:t>
            </a:r>
            <a:r>
              <a:rPr lang="zh-CN" altLang="en-US"/>
              <a:t>组件实例是如何知道变化，并且更新视图的？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首先，</a:t>
            </a:r>
            <a:r>
              <a:rPr lang="en-US" altLang="zh-CN"/>
              <a:t>new store</a:t>
            </a:r>
            <a:r>
              <a:rPr lang="zh-CN" altLang="en-US"/>
              <a:t>的时候，会经过</a:t>
            </a:r>
            <a:r>
              <a:rPr lang="en-US" altLang="zh-CN"/>
              <a:t>store._vm = new Vue({ data: { $$state: state }, computed: computed })</a:t>
            </a:r>
            <a:r>
              <a:rPr lang="zh-CN" altLang="en-US"/>
              <a:t>。经过这一步后，</a:t>
            </a:r>
            <a:r>
              <a:rPr lang="en-US" altLang="zh-CN"/>
              <a:t>state</a:t>
            </a:r>
            <a:r>
              <a:rPr lang="zh-CN" altLang="en-US"/>
              <a:t>里面的数据就通过</a:t>
            </a:r>
            <a:r>
              <a:rPr lang="en-US" altLang="zh-CN"/>
              <a:t>Object.definedProperty</a:t>
            </a:r>
            <a:r>
              <a:rPr lang="zh-CN" altLang="en-US"/>
              <a:t>构建了依赖追踪。</a:t>
            </a:r>
            <a:endParaRPr lang="zh-CN" altLang="en-US"/>
          </a:p>
          <a:p>
            <a:endParaRPr lang="zh-CN" altLang="en-US"/>
          </a:p>
          <a:p>
            <a:r>
              <a:rPr lang="en-US" altLang="zh-CN"/>
              <a:t>vue</a:t>
            </a:r>
            <a:r>
              <a:rPr lang="zh-CN" altLang="en-US"/>
              <a:t>组件实例绑定上</a:t>
            </a:r>
            <a:r>
              <a:rPr lang="en-US" altLang="zh-CN"/>
              <a:t>vuex</a:t>
            </a:r>
            <a:r>
              <a:rPr lang="zh-CN" altLang="en-US"/>
              <a:t>的状态属性，有两种方式</a:t>
            </a:r>
            <a:endParaRPr lang="zh-CN" altLang="en-US"/>
          </a:p>
          <a:p>
            <a:r>
              <a:rPr lang="en-US" altLang="zh-CN"/>
              <a:t>1. </a:t>
            </a:r>
            <a:r>
              <a:rPr lang="zh-CN" altLang="en-US"/>
              <a:t>直接在</a:t>
            </a:r>
            <a:r>
              <a:rPr lang="en-US" altLang="zh-CN"/>
              <a:t>vue</a:t>
            </a:r>
            <a:r>
              <a:rPr lang="zh-CN" altLang="en-US"/>
              <a:t>组件中使用</a:t>
            </a:r>
            <a:r>
              <a:rPr lang="en-US" altLang="zh-CN"/>
              <a:t>this.$store.state.xx</a:t>
            </a:r>
            <a:r>
              <a:rPr lang="zh-CN" altLang="en-US"/>
              <a:t>来引用</a:t>
            </a:r>
            <a:endParaRPr lang="zh-CN" altLang="en-US"/>
          </a:p>
          <a:p>
            <a:r>
              <a:rPr lang="en-US" altLang="zh-CN"/>
              <a:t>2. </a:t>
            </a:r>
            <a:r>
              <a:rPr lang="zh-CN" altLang="en-US"/>
              <a:t>利用</a:t>
            </a:r>
            <a:r>
              <a:rPr lang="en-US" altLang="zh-CN"/>
              <a:t>vuex</a:t>
            </a:r>
            <a:r>
              <a:rPr lang="zh-CN" altLang="en-US"/>
              <a:t>内部的</a:t>
            </a:r>
            <a:r>
              <a:rPr lang="en-US" altLang="zh-CN"/>
              <a:t>mapGetters</a:t>
            </a:r>
            <a:r>
              <a:rPr lang="zh-CN" altLang="en-US"/>
              <a:t>方法，在</a:t>
            </a:r>
            <a:r>
              <a:rPr lang="en-US" altLang="zh-CN"/>
              <a:t>vue</a:t>
            </a:r>
            <a:r>
              <a:rPr lang="zh-CN" altLang="en-US"/>
              <a:t>组件的</a:t>
            </a:r>
            <a:r>
              <a:rPr lang="en-US" altLang="zh-CN"/>
              <a:t>computed</a:t>
            </a:r>
            <a:r>
              <a:rPr lang="zh-CN" altLang="en-US"/>
              <a:t>中书写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对于第</a:t>
            </a:r>
            <a:r>
              <a:rPr lang="en-US" altLang="zh-CN"/>
              <a:t>1</a:t>
            </a:r>
            <a:r>
              <a:rPr lang="zh-CN" altLang="en-US"/>
              <a:t>种方式：</a:t>
            </a:r>
            <a:endParaRPr lang="zh-CN" altLang="en-US"/>
          </a:p>
          <a:p>
            <a:r>
              <a:rPr lang="zh-CN" altLang="en-US"/>
              <a:t>当在组件中使用</a:t>
            </a:r>
            <a:r>
              <a:rPr lang="en-US" altLang="zh-CN">
                <a:sym typeface="+mn-ea"/>
              </a:rPr>
              <a:t>this.$store.state.xx</a:t>
            </a:r>
            <a:r>
              <a:rPr lang="zh-CN" altLang="en-US">
                <a:sym typeface="+mn-ea"/>
              </a:rPr>
              <a:t>来获取</a:t>
            </a:r>
            <a:r>
              <a:rPr lang="en-US" altLang="zh-CN">
                <a:sym typeface="+mn-ea"/>
              </a:rPr>
              <a:t>vuex</a:t>
            </a:r>
            <a:r>
              <a:rPr lang="zh-CN" altLang="en-US">
                <a:sym typeface="+mn-ea"/>
              </a:rPr>
              <a:t>状态时，会先通过一层代理，获取</a:t>
            </a:r>
            <a:r>
              <a:rPr lang="en-US" altLang="zh-CN">
                <a:sym typeface="+mn-ea"/>
              </a:rPr>
              <a:t>store._vm._data.$$state</a:t>
            </a:r>
            <a:r>
              <a:rPr lang="zh-CN" altLang="en-US">
                <a:sym typeface="+mn-ea"/>
              </a:rPr>
              <a:t>来获取对应的属性。由于</a:t>
            </a:r>
            <a:r>
              <a:rPr lang="en-US" altLang="zh-CN">
                <a:sym typeface="+mn-ea"/>
              </a:rPr>
              <a:t>store._vm._data</a:t>
            </a:r>
            <a:r>
              <a:rPr lang="zh-CN" altLang="en-US">
                <a:sym typeface="+mn-ea"/>
              </a:rPr>
              <a:t>里面的属性已经构建了依赖追踪体系。故属性对应的</a:t>
            </a:r>
            <a:r>
              <a:rPr lang="en-US" altLang="zh-CN">
                <a:sym typeface="+mn-ea"/>
              </a:rPr>
              <a:t>dep</a:t>
            </a:r>
            <a:r>
              <a:rPr lang="zh-CN" altLang="en-US">
                <a:sym typeface="+mn-ea"/>
              </a:rPr>
              <a:t>会</a:t>
            </a:r>
            <a:r>
              <a:rPr lang="zh-CN" altLang="en-US">
                <a:sym typeface="+mn-ea"/>
              </a:rPr>
              <a:t>去收集当前</a:t>
            </a:r>
            <a:r>
              <a:rPr lang="en-US" altLang="zh-CN">
                <a:sym typeface="+mn-ea"/>
              </a:rPr>
              <a:t>vue</a:t>
            </a:r>
            <a:r>
              <a:rPr lang="zh-CN" altLang="en-US">
                <a:sym typeface="+mn-ea"/>
              </a:rPr>
              <a:t>组件的</a:t>
            </a:r>
            <a:r>
              <a:rPr lang="en-US" altLang="zh-CN">
                <a:sym typeface="+mn-ea"/>
              </a:rPr>
              <a:t>watcher</a:t>
            </a:r>
            <a:r>
              <a:rPr lang="zh-CN" altLang="en-US">
                <a:sym typeface="+mn-ea"/>
              </a:rPr>
              <a:t>。下一次当状态中某个属性变化时，其</a:t>
            </a:r>
            <a:r>
              <a:rPr lang="en-US" altLang="zh-CN">
                <a:sym typeface="+mn-ea"/>
              </a:rPr>
              <a:t>dep</a:t>
            </a:r>
            <a:r>
              <a:rPr lang="zh-CN" altLang="en-US">
                <a:sym typeface="+mn-ea"/>
              </a:rPr>
              <a:t>会去通知有引用这个属性的</a:t>
            </a:r>
            <a:r>
              <a:rPr lang="en-US" altLang="zh-CN">
                <a:sym typeface="+mn-ea"/>
              </a:rPr>
              <a:t>watcher</a:t>
            </a:r>
            <a:r>
              <a:rPr lang="zh-CN" altLang="en-US">
                <a:sym typeface="+mn-ea"/>
              </a:rPr>
              <a:t>执行更新</a:t>
            </a:r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对于第</a:t>
            </a:r>
            <a:r>
              <a:rPr lang="en-US" altLang="zh-CN">
                <a:sym typeface="+mn-ea"/>
              </a:rPr>
              <a:t>2</a:t>
            </a:r>
            <a:r>
              <a:rPr lang="zh-CN" altLang="en-US">
                <a:sym typeface="+mn-ea"/>
              </a:rPr>
              <a:t>中方式：</a:t>
            </a:r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其用在</a:t>
            </a:r>
            <a:r>
              <a:rPr lang="en-US" altLang="zh-CN">
                <a:sym typeface="+mn-ea"/>
              </a:rPr>
              <a:t>vue</a:t>
            </a:r>
            <a:r>
              <a:rPr lang="zh-CN" altLang="en-US">
                <a:sym typeface="+mn-ea"/>
              </a:rPr>
              <a:t>实例的</a:t>
            </a:r>
            <a:r>
              <a:rPr lang="en-US" altLang="zh-CN">
                <a:sym typeface="+mn-ea"/>
              </a:rPr>
              <a:t>computed</a:t>
            </a:r>
            <a:r>
              <a:rPr lang="zh-CN" altLang="en-US">
                <a:sym typeface="+mn-ea"/>
              </a:rPr>
              <a:t>中。</a:t>
            </a:r>
            <a:r>
              <a:rPr lang="en-US" altLang="zh-CN">
                <a:sym typeface="+mn-ea"/>
              </a:rPr>
              <a:t>computed</a:t>
            </a:r>
            <a:r>
              <a:rPr lang="zh-CN" altLang="en-US">
                <a:sym typeface="+mn-ea"/>
              </a:rPr>
              <a:t>计算函数中，其</a:t>
            </a:r>
            <a:r>
              <a:rPr lang="zh-CN" altLang="en-US">
                <a:sym typeface="+mn-ea"/>
              </a:rPr>
              <a:t>实质也是按照</a:t>
            </a:r>
            <a:r>
              <a:rPr lang="en-US" altLang="zh-CN">
                <a:sym typeface="+mn-ea"/>
              </a:rPr>
              <a:t>store.state.xx</a:t>
            </a:r>
            <a:r>
              <a:rPr lang="zh-CN" altLang="en-US">
                <a:sym typeface="+mn-ea"/>
              </a:rPr>
              <a:t>去获取状态属性值的。故效果和第</a:t>
            </a:r>
            <a:r>
              <a:rPr lang="en-US" altLang="zh-CN">
                <a:sym typeface="+mn-ea"/>
              </a:rPr>
              <a:t>1</a:t>
            </a:r>
            <a:r>
              <a:rPr lang="zh-CN" altLang="en-US">
                <a:sym typeface="+mn-ea"/>
              </a:rPr>
              <a:t>种方式一样，第一次获取会去收集</a:t>
            </a:r>
            <a:r>
              <a:rPr lang="en-US" altLang="zh-CN">
                <a:sym typeface="+mn-ea"/>
              </a:rPr>
              <a:t>watcher</a:t>
            </a:r>
            <a:r>
              <a:rPr lang="zh-CN" altLang="en-US">
                <a:sym typeface="+mn-ea"/>
              </a:rPr>
              <a:t>，变化时，通知</a:t>
            </a:r>
            <a:r>
              <a:rPr lang="en-US" altLang="zh-CN">
                <a:sym typeface="+mn-ea"/>
              </a:rPr>
              <a:t>watcher</a:t>
            </a:r>
            <a:r>
              <a:rPr lang="zh-CN" altLang="en-US">
                <a:sym typeface="+mn-ea"/>
              </a:rPr>
              <a:t>更新</a:t>
            </a:r>
            <a:endParaRPr lang="zh-CN" altLang="en-US"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默认设计模板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9EDEE"/>
      </a:accent5>
      <a:accent6>
        <a:srgbClr val="2D2D89"/>
      </a:accent6>
      <a:hlink>
        <a:srgbClr val="009999"/>
      </a:hlink>
      <a:folHlink>
        <a:srgbClr val="99CC00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9EDEE"/>
        </a:accent5>
        <a:accent6>
          <a:srgbClr val="2D2D89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4"/>
        </a:accent5>
        <a:accent6>
          <a:srgbClr val="E5895B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7B7E5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BFAF7"/>
        </a:accent3>
        <a:accent4>
          <a:srgbClr val="000000"/>
        </a:accent4>
        <a:accent5>
          <a:srgbClr val="FFFFFF"/>
        </a:accent5>
        <a:accent6>
          <a:srgbClr val="7EB1E5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7B7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8080"/>
        </a:lt1>
        <a:dk2>
          <a:srgbClr val="FFFF99"/>
        </a:dk2>
        <a:lt2>
          <a:srgbClr val="005A58"/>
        </a:lt2>
        <a:accent1>
          <a:srgbClr val="006462"/>
        </a:accent1>
        <a:accent2>
          <a:srgbClr val="6D6FC7"/>
        </a:accent2>
        <a:accent3>
          <a:srgbClr val="AAC1C1"/>
        </a:accent3>
        <a:accent4>
          <a:srgbClr val="DCDCDC"/>
        </a:accent4>
        <a:accent5>
          <a:srgbClr val="AAB8B8"/>
        </a:accent5>
        <a:accent6>
          <a:srgbClr val="6163B2"/>
        </a:accent6>
        <a:hlink>
          <a:srgbClr val="00FFFF"/>
        </a:hlink>
        <a:folHlink>
          <a:srgbClr val="00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800000"/>
        </a:lt1>
        <a:dk2>
          <a:srgbClr val="DFD293"/>
        </a:dk2>
        <a:lt2>
          <a:srgbClr val="5C1F00"/>
        </a:lt2>
        <a:accent1>
          <a:srgbClr val="CC3300"/>
        </a:accent1>
        <a:accent2>
          <a:srgbClr val="BE7960"/>
        </a:accent2>
        <a:accent3>
          <a:srgbClr val="C1AAAA"/>
        </a:accent3>
        <a:accent4>
          <a:srgbClr val="DCDCDC"/>
        </a:accent4>
        <a:accent5>
          <a:srgbClr val="E2ADAA"/>
        </a:accent5>
        <a:accent6>
          <a:srgbClr val="AA6C55"/>
        </a:accent6>
        <a:hlink>
          <a:srgbClr val="FFFF99"/>
        </a:hlink>
        <a:folHlink>
          <a:srgbClr val="D3A21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99"/>
        </a:lt1>
        <a:dk2>
          <a:srgbClr val="CCFFFF"/>
        </a:dk2>
        <a:lt2>
          <a:srgbClr val="003366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CDCDC"/>
        </a:accent4>
        <a:accent5>
          <a:srgbClr val="ADB9E2"/>
        </a:accent5>
        <a:accent6>
          <a:srgbClr val="009D00"/>
        </a:accent6>
        <a:hlink>
          <a:srgbClr val="66CCFF"/>
        </a:hlink>
        <a:folHlink>
          <a:srgbClr val="FFE70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00"/>
        </a:lt1>
        <a:dk2>
          <a:srgbClr val="E3EBF1"/>
        </a:dk2>
        <a:lt2>
          <a:srgbClr val="336699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CDCDC"/>
        </a:accent4>
        <a:accent5>
          <a:srgbClr val="AAADCA"/>
        </a:accent5>
        <a:accent6>
          <a:srgbClr val="3E7B43"/>
        </a:accent6>
        <a:hlink>
          <a:srgbClr val="66CCFF"/>
        </a:hlink>
        <a:folHlink>
          <a:srgbClr val="F0E5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86B5D"/>
        </a:lt1>
        <a:dk2>
          <a:srgbClr val="D1D1CB"/>
        </a:dk2>
        <a:lt2>
          <a:srgbClr val="777777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CDCDC"/>
        </a:accent4>
        <a:accent5>
          <a:srgbClr val="C7C7C1"/>
        </a:accent5>
        <a:accent6>
          <a:srgbClr val="728D96"/>
        </a:accent6>
        <a:hlink>
          <a:srgbClr val="FFCC66"/>
        </a:hlink>
        <a:folHlink>
          <a:srgbClr val="E9DCB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66699"/>
        </a:lt1>
        <a:dk2>
          <a:srgbClr val="FFFFFF"/>
        </a:dk2>
        <a:lt2>
          <a:srgbClr val="3E3E5C"/>
        </a:lt2>
        <a:accent1>
          <a:srgbClr val="60597B"/>
        </a:accent1>
        <a:accent2>
          <a:srgbClr val="6666FF"/>
        </a:accent2>
        <a:accent3>
          <a:srgbClr val="B9B9CA"/>
        </a:accent3>
        <a:accent4>
          <a:srgbClr val="DCDCDC"/>
        </a:accent4>
        <a:accent5>
          <a:srgbClr val="B7B5BF"/>
        </a:accent5>
        <a:accent6>
          <a:srgbClr val="5B5BE5"/>
        </a:accent6>
        <a:hlink>
          <a:srgbClr val="99CCFF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523E26"/>
        </a:lt1>
        <a:dk2>
          <a:srgbClr val="DFC08D"/>
        </a:dk2>
        <a:lt2>
          <a:srgbClr val="2D2015"/>
        </a:lt2>
        <a:accent1>
          <a:srgbClr val="8C7B70"/>
        </a:accent1>
        <a:accent2>
          <a:srgbClr val="8F5F2F"/>
        </a:accent2>
        <a:accent3>
          <a:srgbClr val="B3AFAB"/>
        </a:accent3>
        <a:accent4>
          <a:srgbClr val="DCDCDC"/>
        </a:accent4>
        <a:accent5>
          <a:srgbClr val="C5BFBC"/>
        </a:accent5>
        <a:accent6>
          <a:srgbClr val="805529"/>
        </a:accent6>
        <a:hlink>
          <a:srgbClr val="CCB400"/>
        </a:hlink>
        <a:folHlink>
          <a:srgbClr val="8C9EA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1186</Words>
  <Application>WPS 演示</Application>
  <PresentationFormat/>
  <Paragraphs>39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0" baseType="lpstr">
      <vt:lpstr>Arial</vt:lpstr>
      <vt:lpstr>宋体</vt:lpstr>
      <vt:lpstr>Wingdings</vt:lpstr>
      <vt:lpstr>微软雅黑</vt:lpstr>
      <vt:lpstr>Arial Unicode MS</vt:lpstr>
      <vt:lpstr>Calibri</vt:lpstr>
      <vt:lpstr>默认设计模板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JC</dc:creator>
  <cp:lastModifiedBy>JC</cp:lastModifiedBy>
  <cp:revision>13</cp:revision>
  <dcterms:created xsi:type="dcterms:W3CDTF">2019-12-17T07:52:40Z</dcterms:created>
  <dcterms:modified xsi:type="dcterms:W3CDTF">2019-12-18T06:29:55Z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2052-11.1.0.9305</vt:lpwstr>
  </property>
</Properties>
</file>